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5f6b185f243d1" /><Relationship Type="http://schemas.openxmlformats.org/officeDocument/2006/relationships/extended-properties" Target="/docProps/app.xml" Id="R2175cbffbdc94434" /><Relationship Type="http://schemas.openxmlformats.org/officeDocument/2006/relationships/officeDocument" Target="/ppt/presentation.xml" Id="R77aba63ee82b40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b918cdb2a4ed1"/>
  </p:sldMasterIdLst>
  <p:notesMasterIdLst>
    <p:notesMasterId xmlns:r="http://schemas.openxmlformats.org/officeDocument/2006/relationships" r:id="R55de8b945f27464c"/>
  </p:notesMasterIdLst>
  <p:sldIdLst>
    <p:sldId xmlns:r="http://schemas.openxmlformats.org/officeDocument/2006/relationships" id="256" r:id="R60612db7e47d4a4f"/>
    <p:sldId xmlns:r="http://schemas.openxmlformats.org/officeDocument/2006/relationships" id="257" r:id="Ref43a28290d14573"/>
    <p:sldId xmlns:r="http://schemas.openxmlformats.org/officeDocument/2006/relationships" id="258" r:id="R3fbd04abb67e48b0"/>
    <p:sldId xmlns:r="http://schemas.openxmlformats.org/officeDocument/2006/relationships" id="259" r:id="Rfd8b84a98ea9416d"/>
    <p:sldId xmlns:r="http://schemas.openxmlformats.org/officeDocument/2006/relationships" id="260" r:id="Rd66f058223b34695"/>
    <p:sldId xmlns:r="http://schemas.openxmlformats.org/officeDocument/2006/relationships" id="261" r:id="R1c652e14197b4b8c"/>
    <p:sldId xmlns:r="http://schemas.openxmlformats.org/officeDocument/2006/relationships" id="262" r:id="Rdc02f1877c6e4205"/>
    <p:sldId xmlns:r="http://schemas.openxmlformats.org/officeDocument/2006/relationships" id="263" r:id="Rd546ed72877f4fa8"/>
    <p:sldId xmlns:r="http://schemas.openxmlformats.org/officeDocument/2006/relationships" id="264" r:id="Rbf6c96d562504c8c"/>
    <p:sldId xmlns:r="http://schemas.openxmlformats.org/officeDocument/2006/relationships" id="265" r:id="R0de85d94a6f04562"/>
    <p:sldId xmlns:r="http://schemas.openxmlformats.org/officeDocument/2006/relationships" id="266" r:id="R213ff6fd886c4469"/>
    <p:sldId xmlns:r="http://schemas.openxmlformats.org/officeDocument/2006/relationships" id="267" r:id="R3dc2255c5fdb4dfc"/>
    <p:sldId xmlns:r="http://schemas.openxmlformats.org/officeDocument/2006/relationships" id="268" r:id="R75b0d8b1047c4435"/>
    <p:sldId xmlns:r="http://schemas.openxmlformats.org/officeDocument/2006/relationships" id="269" r:id="R7483a27d2ed54804"/>
    <p:sldId xmlns:r="http://schemas.openxmlformats.org/officeDocument/2006/relationships" id="270" r:id="R9abafa25855e4a37"/>
    <p:sldId xmlns:r="http://schemas.openxmlformats.org/officeDocument/2006/relationships" id="271" r:id="R2d361fb756bb49d5"/>
    <p:sldId xmlns:r="http://schemas.openxmlformats.org/officeDocument/2006/relationships" id="272" r:id="R2fb718eee9b54a2c"/>
    <p:sldId xmlns:r="http://schemas.openxmlformats.org/officeDocument/2006/relationships" id="273" r:id="Rdbfd0407659a4c21"/>
    <p:sldId xmlns:r="http://schemas.openxmlformats.org/officeDocument/2006/relationships" id="274" r:id="Re03c222864be4bfe"/>
    <p:sldId xmlns:r="http://schemas.openxmlformats.org/officeDocument/2006/relationships" id="275" r:id="R91aa9dd72c9a44fe"/>
    <p:sldId xmlns:r="http://schemas.openxmlformats.org/officeDocument/2006/relationships" id="276" r:id="Rd52a310624774be5"/>
    <p:sldId xmlns:r="http://schemas.openxmlformats.org/officeDocument/2006/relationships" id="277" r:id="R75640fd3425b4029"/>
    <p:sldId xmlns:r="http://schemas.openxmlformats.org/officeDocument/2006/relationships" id="278" r:id="Re0516c80b16843bf"/>
    <p:sldId xmlns:r="http://schemas.openxmlformats.org/officeDocument/2006/relationships" id="279" r:id="R15d501743bb24f86"/>
    <p:sldId xmlns:r="http://schemas.openxmlformats.org/officeDocument/2006/relationships" id="280" r:id="R8b8d45ffb3954c63"/>
    <p:sldId xmlns:r="http://schemas.openxmlformats.org/officeDocument/2006/relationships" id="281" r:id="R826b25d0329548e4"/>
    <p:sldId xmlns:r="http://schemas.openxmlformats.org/officeDocument/2006/relationships" id="282" r:id="Rf7f88a079fd849e6"/>
    <p:sldId xmlns:r="http://schemas.openxmlformats.org/officeDocument/2006/relationships" id="283" r:id="Rd2764567ebf145a7"/>
    <p:sldId xmlns:r="http://schemas.openxmlformats.org/officeDocument/2006/relationships" id="284" r:id="Raf9dfa3bc0694a0d"/>
    <p:sldId xmlns:r="http://schemas.openxmlformats.org/officeDocument/2006/relationships" id="285" r:id="R848f6310d1b14a01"/>
    <p:sldId xmlns:r="http://schemas.openxmlformats.org/officeDocument/2006/relationships" id="286" r:id="R1aef01d16c444d40"/>
    <p:sldId xmlns:r="http://schemas.openxmlformats.org/officeDocument/2006/relationships" id="287" r:id="Rcf14b6b11e2540ae"/>
    <p:sldId xmlns:r="http://schemas.openxmlformats.org/officeDocument/2006/relationships" id="288" r:id="R46b367c412ef4785"/>
    <p:sldId xmlns:r="http://schemas.openxmlformats.org/officeDocument/2006/relationships" id="289" r:id="Rcbf36d905d424071"/>
    <p:sldId xmlns:r="http://schemas.openxmlformats.org/officeDocument/2006/relationships" id="290" r:id="R68a146de626043f6"/>
    <p:sldId xmlns:r="http://schemas.openxmlformats.org/officeDocument/2006/relationships" id="291" r:id="R936555bc2d594910"/>
    <p:sldId xmlns:r="http://schemas.openxmlformats.org/officeDocument/2006/relationships" id="292" r:id="R61cb759d576043db"/>
    <p:sldId xmlns:r="http://schemas.openxmlformats.org/officeDocument/2006/relationships" id="293" r:id="R8a3f9a9edb354590"/>
    <p:sldId xmlns:r="http://schemas.openxmlformats.org/officeDocument/2006/relationships" id="294" r:id="R840aec277c26443c"/>
    <p:sldId xmlns:r="http://schemas.openxmlformats.org/officeDocument/2006/relationships" id="295" r:id="Rdc8d4f8e63fd46db"/>
    <p:sldId xmlns:r="http://schemas.openxmlformats.org/officeDocument/2006/relationships" id="296" r:id="Rf9a56e9e3d904d9d"/>
    <p:sldId xmlns:r="http://schemas.openxmlformats.org/officeDocument/2006/relationships" id="297" r:id="Ra9a21c1c74ed49fe"/>
    <p:sldId xmlns:r="http://schemas.openxmlformats.org/officeDocument/2006/relationships" id="298" r:id="R7d83cc4b61a14703"/>
    <p:sldId xmlns:r="http://schemas.openxmlformats.org/officeDocument/2006/relationships" id="299" r:id="R4a8db559dd4f49b8"/>
    <p:sldId xmlns:r="http://schemas.openxmlformats.org/officeDocument/2006/relationships" id="300" r:id="Rb4358f857f754e8e"/>
    <p:sldId xmlns:r="http://schemas.openxmlformats.org/officeDocument/2006/relationships" id="301" r:id="Rb750dbf4ad7443cb"/>
    <p:sldId xmlns:r="http://schemas.openxmlformats.org/officeDocument/2006/relationships" id="302" r:id="Rdab01e614763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showPr loop="0" showAnimation="1">
    <p:kiosk restart="300000"/>
  </p:showPr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7def21b2d14902" /><Relationship Type="http://schemas.openxmlformats.org/officeDocument/2006/relationships/slideMaster" Target="/ppt/slideMasters/slideMaster1.xml" Id="R59cb918cdb2a4ed1" /><Relationship Type="http://schemas.openxmlformats.org/officeDocument/2006/relationships/notesMaster" Target="/ppt/notesMasters/notesMaster1.xml" Id="R55de8b945f27464c" /><Relationship Type="http://schemas.openxmlformats.org/officeDocument/2006/relationships/presProps" Target="/ppt/presProps.xml" Id="Rd434441fc30f4097" /><Relationship Type="http://schemas.openxmlformats.org/officeDocument/2006/relationships/tableStyles" Target="/ppt/tableStyles.xml" Id="R8922053e19f24635" /><Relationship Type="http://schemas.openxmlformats.org/officeDocument/2006/relationships/slide" Target="/ppt/slides/slide1.xml" Id="R60612db7e47d4a4f" /><Relationship Type="http://schemas.openxmlformats.org/officeDocument/2006/relationships/slide" Target="/ppt/slides/slide2.xml" Id="Ref43a28290d14573" /><Relationship Type="http://schemas.openxmlformats.org/officeDocument/2006/relationships/slide" Target="/ppt/slides/slide3.xml" Id="R3fbd04abb67e48b0" /><Relationship Type="http://schemas.openxmlformats.org/officeDocument/2006/relationships/slide" Target="/ppt/slides/slide4.xml" Id="Rfd8b84a98ea9416d" /><Relationship Type="http://schemas.openxmlformats.org/officeDocument/2006/relationships/slide" Target="/ppt/slides/slide5.xml" Id="Rd66f058223b34695" /><Relationship Type="http://schemas.openxmlformats.org/officeDocument/2006/relationships/slide" Target="/ppt/slides/slide6.xml" Id="R1c652e14197b4b8c" /><Relationship Type="http://schemas.openxmlformats.org/officeDocument/2006/relationships/slide" Target="/ppt/slides/slide7.xml" Id="Rdc02f1877c6e4205" /><Relationship Type="http://schemas.openxmlformats.org/officeDocument/2006/relationships/slide" Target="/ppt/slides/slide8.xml" Id="Rd546ed72877f4fa8" /><Relationship Type="http://schemas.openxmlformats.org/officeDocument/2006/relationships/slide" Target="/ppt/slides/slide9.xml" Id="Rbf6c96d562504c8c" /><Relationship Type="http://schemas.openxmlformats.org/officeDocument/2006/relationships/slide" Target="/ppt/slides/slide10.xml" Id="R0de85d94a6f04562" /><Relationship Type="http://schemas.openxmlformats.org/officeDocument/2006/relationships/slide" Target="/ppt/slides/slide11.xml" Id="R213ff6fd886c4469" /><Relationship Type="http://schemas.openxmlformats.org/officeDocument/2006/relationships/slide" Target="/ppt/slides/slide12.xml" Id="R3dc2255c5fdb4dfc" /><Relationship Type="http://schemas.openxmlformats.org/officeDocument/2006/relationships/slide" Target="/ppt/slides/slide13.xml" Id="R75b0d8b1047c4435" /><Relationship Type="http://schemas.openxmlformats.org/officeDocument/2006/relationships/slide" Target="/ppt/slides/slide14.xml" Id="R7483a27d2ed54804" /><Relationship Type="http://schemas.openxmlformats.org/officeDocument/2006/relationships/slide" Target="/ppt/slides/slide15.xml" Id="R9abafa25855e4a37" /><Relationship Type="http://schemas.openxmlformats.org/officeDocument/2006/relationships/slide" Target="/ppt/slides/slide16.xml" Id="R2d361fb756bb49d5" /><Relationship Type="http://schemas.openxmlformats.org/officeDocument/2006/relationships/slide" Target="/ppt/slides/slide17.xml" Id="R2fb718eee9b54a2c" /><Relationship Type="http://schemas.openxmlformats.org/officeDocument/2006/relationships/slide" Target="/ppt/slides/slide18.xml" Id="Rdbfd0407659a4c21" /><Relationship Type="http://schemas.openxmlformats.org/officeDocument/2006/relationships/slide" Target="/ppt/slides/slide19.xml" Id="Re03c222864be4bfe" /><Relationship Type="http://schemas.openxmlformats.org/officeDocument/2006/relationships/slide" Target="/ppt/slides/slide20.xml" Id="R91aa9dd72c9a44fe" /><Relationship Type="http://schemas.openxmlformats.org/officeDocument/2006/relationships/slide" Target="/ppt/slides/slide21.xml" Id="Rd52a310624774be5" /><Relationship Type="http://schemas.openxmlformats.org/officeDocument/2006/relationships/slide" Target="/ppt/slides/slide22.xml" Id="R75640fd3425b4029" /><Relationship Type="http://schemas.openxmlformats.org/officeDocument/2006/relationships/slide" Target="/ppt/slides/slide23.xml" Id="Re0516c80b16843bf" /><Relationship Type="http://schemas.openxmlformats.org/officeDocument/2006/relationships/slide" Target="/ppt/slides/slide24.xml" Id="R15d501743bb24f86" /><Relationship Type="http://schemas.openxmlformats.org/officeDocument/2006/relationships/slide" Target="/ppt/slides/slide25.xml" Id="R8b8d45ffb3954c63" /><Relationship Type="http://schemas.openxmlformats.org/officeDocument/2006/relationships/slide" Target="/ppt/slides/slide26.xml" Id="R826b25d0329548e4" /><Relationship Type="http://schemas.openxmlformats.org/officeDocument/2006/relationships/slide" Target="/ppt/slides/slide27.xml" Id="Rf7f88a079fd849e6" /><Relationship Type="http://schemas.openxmlformats.org/officeDocument/2006/relationships/slide" Target="/ppt/slides/slide28.xml" Id="Rd2764567ebf145a7" /><Relationship Type="http://schemas.openxmlformats.org/officeDocument/2006/relationships/slide" Target="/ppt/slides/slide29.xml" Id="Raf9dfa3bc0694a0d" /><Relationship Type="http://schemas.openxmlformats.org/officeDocument/2006/relationships/slide" Target="/ppt/slides/slide30.xml" Id="R848f6310d1b14a01" /><Relationship Type="http://schemas.openxmlformats.org/officeDocument/2006/relationships/slide" Target="/ppt/slides/slide31.xml" Id="R1aef01d16c444d40" /><Relationship Type="http://schemas.openxmlformats.org/officeDocument/2006/relationships/slide" Target="/ppt/slides/slide32.xml" Id="Rcf14b6b11e2540ae" /><Relationship Type="http://schemas.openxmlformats.org/officeDocument/2006/relationships/slide" Target="/ppt/slides/slide33.xml" Id="R46b367c412ef4785" /><Relationship Type="http://schemas.openxmlformats.org/officeDocument/2006/relationships/slide" Target="/ppt/slides/slide34.xml" Id="Rcbf36d905d424071" /><Relationship Type="http://schemas.openxmlformats.org/officeDocument/2006/relationships/slide" Target="/ppt/slides/slide35.xml" Id="R68a146de626043f6" /><Relationship Type="http://schemas.openxmlformats.org/officeDocument/2006/relationships/slide" Target="/ppt/slides/slide36.xml" Id="R936555bc2d594910" /><Relationship Type="http://schemas.openxmlformats.org/officeDocument/2006/relationships/slide" Target="/ppt/slides/slide37.xml" Id="R61cb759d576043db" /><Relationship Type="http://schemas.openxmlformats.org/officeDocument/2006/relationships/slide" Target="/ppt/slides/slide38.xml" Id="R8a3f9a9edb354590" /><Relationship Type="http://schemas.openxmlformats.org/officeDocument/2006/relationships/slide" Target="/ppt/slides/slide39.xml" Id="R840aec277c26443c" /><Relationship Type="http://schemas.openxmlformats.org/officeDocument/2006/relationships/slide" Target="/ppt/slides/slide40.xml" Id="Rdc8d4f8e63fd46db" /><Relationship Type="http://schemas.openxmlformats.org/officeDocument/2006/relationships/slide" Target="/ppt/slides/slide41.xml" Id="Rf9a56e9e3d904d9d" /><Relationship Type="http://schemas.openxmlformats.org/officeDocument/2006/relationships/slide" Target="/ppt/slides/slide42.xml" Id="Ra9a21c1c74ed49fe" /><Relationship Type="http://schemas.openxmlformats.org/officeDocument/2006/relationships/slide" Target="/ppt/slides/slide43.xml" Id="R7d83cc4b61a14703" /><Relationship Type="http://schemas.openxmlformats.org/officeDocument/2006/relationships/slide" Target="/ppt/slides/slide44.xml" Id="R4a8db559dd4f49b8" /><Relationship Type="http://schemas.openxmlformats.org/officeDocument/2006/relationships/slide" Target="/ppt/slides/slide45.xml" Id="Rb4358f857f754e8e" /><Relationship Type="http://schemas.openxmlformats.org/officeDocument/2006/relationships/slide" Target="/ppt/slides/slide46.xml" Id="Rb750dbf4ad7443cb" /><Relationship Type="http://schemas.openxmlformats.org/officeDocument/2006/relationships/slide" Target="/ppt/slides/slide47.xml" Id="Rdab01e614763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067404648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fa7f779204ec8" /><Relationship Type="http://schemas.openxmlformats.org/officeDocument/2006/relationships/notesMaster" Target="/ppt/notesMasters/notesMaster1.xml" Id="R1ae65b51f7b9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73685cb334b8d" /><Relationship Type="http://schemas.openxmlformats.org/officeDocument/2006/relationships/notesMaster" Target="/ppt/notesMasters/notesMaster1.xml" Id="R36220afe95fc4b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7f983cc3274eb7" /><Relationship Type="http://schemas.openxmlformats.org/officeDocument/2006/relationships/notesMaster" Target="/ppt/notesMasters/notesMaster1.xml" Id="Rde9c29c51da84b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497bfa8ec4d48" /><Relationship Type="http://schemas.openxmlformats.org/officeDocument/2006/relationships/notesMaster" Target="/ppt/notesMasters/notesMaster1.xml" Id="R5ac74ce8013f43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cb115db2354176" /><Relationship Type="http://schemas.openxmlformats.org/officeDocument/2006/relationships/notesMaster" Target="/ppt/notesMasters/notesMaster1.xml" Id="R54bf4fef0983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39c165995b49f3" /><Relationship Type="http://schemas.openxmlformats.org/officeDocument/2006/relationships/notesMaster" Target="/ppt/notesMasters/notesMaster1.xml" Id="R4f3623a29eb2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f13b74c874850" /><Relationship Type="http://schemas.openxmlformats.org/officeDocument/2006/relationships/notesMaster" Target="/ppt/notesMasters/notesMaster1.xml" Id="R38a6198ed21d45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0b779c33184fea" /><Relationship Type="http://schemas.openxmlformats.org/officeDocument/2006/relationships/notesMaster" Target="/ppt/notesMasters/notesMaster1.xml" Id="R596821c25681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ed4d1422ae4aa5" /><Relationship Type="http://schemas.openxmlformats.org/officeDocument/2006/relationships/notesMaster" Target="/ppt/notesMasters/notesMaster1.xml" Id="R3fb3de484c2048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c800645c7642f0" /><Relationship Type="http://schemas.openxmlformats.org/officeDocument/2006/relationships/notesMaster" Target="/ppt/notesMasters/notesMaster1.xml" Id="R5f9409df4efe4f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19bf3e58c43ff" /><Relationship Type="http://schemas.openxmlformats.org/officeDocument/2006/relationships/notesMaster" Target="/ppt/notesMasters/notesMaster1.xml" Id="R757aca7c049e4f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bcc165af174d23" /><Relationship Type="http://schemas.openxmlformats.org/officeDocument/2006/relationships/notesMaster" Target="/ppt/notesMasters/notesMaster1.xml" Id="Rf099ec70a2f7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93bc3c6cb4d29" /><Relationship Type="http://schemas.openxmlformats.org/officeDocument/2006/relationships/notesMaster" Target="/ppt/notesMasters/notesMaster1.xml" Id="R33e668bd6f4c4b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c9bab33acd421d" /><Relationship Type="http://schemas.openxmlformats.org/officeDocument/2006/relationships/notesMaster" Target="/ppt/notesMasters/notesMaster1.xml" Id="Ra4a123559d6046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74788746414d9e" /><Relationship Type="http://schemas.openxmlformats.org/officeDocument/2006/relationships/notesMaster" Target="/ppt/notesMasters/notesMaster1.xml" Id="R7b4af6ee80a942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bd13c2e2654dec" /><Relationship Type="http://schemas.openxmlformats.org/officeDocument/2006/relationships/notesMaster" Target="/ppt/notesMasters/notesMaster1.xml" Id="R2882ef35c55d4c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354ffa7b874fbd" /><Relationship Type="http://schemas.openxmlformats.org/officeDocument/2006/relationships/notesMaster" Target="/ppt/notesMasters/notesMaster1.xml" Id="Ra9d5d059be4048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d5f0bb58ee4def" /><Relationship Type="http://schemas.openxmlformats.org/officeDocument/2006/relationships/notesMaster" Target="/ppt/notesMasters/notesMaster1.xml" Id="Rfe0d6620e2044a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ff0a58464a4481" /><Relationship Type="http://schemas.openxmlformats.org/officeDocument/2006/relationships/notesMaster" Target="/ppt/notesMasters/notesMaster1.xml" Id="R8ed2d28eb2be49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940082978245f4" /><Relationship Type="http://schemas.openxmlformats.org/officeDocument/2006/relationships/notesMaster" Target="/ppt/notesMasters/notesMaster1.xml" Id="Ra44077c54b7148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f97cd4618347ca" /><Relationship Type="http://schemas.openxmlformats.org/officeDocument/2006/relationships/notesMaster" Target="/ppt/notesMasters/notesMaster1.xml" Id="R49413b4ee1e54b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a1bb0920ef4cd4" /><Relationship Type="http://schemas.openxmlformats.org/officeDocument/2006/relationships/notesMaster" Target="/ppt/notesMasters/notesMaster1.xml" Id="R42ee0aef121f4d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f8d677572742bd" /><Relationship Type="http://schemas.openxmlformats.org/officeDocument/2006/relationships/notesMaster" Target="/ppt/notesMasters/notesMaster1.xml" Id="R189d8e8ac0b445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3fe665af9d4887" /><Relationship Type="http://schemas.openxmlformats.org/officeDocument/2006/relationships/notesMaster" Target="/ppt/notesMasters/notesMaster1.xml" Id="Rcce7e286374140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feb4c6c3a14500" /><Relationship Type="http://schemas.openxmlformats.org/officeDocument/2006/relationships/notesMaster" Target="/ppt/notesMasters/notesMaster1.xml" Id="Rabd1fd15bf0547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6813de5e3a44c8" /><Relationship Type="http://schemas.openxmlformats.org/officeDocument/2006/relationships/notesMaster" Target="/ppt/notesMasters/notesMaster1.xml" Id="Rce66804a9d2e48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e55b022895463a" /><Relationship Type="http://schemas.openxmlformats.org/officeDocument/2006/relationships/notesMaster" Target="/ppt/notesMasters/notesMaster1.xml" Id="Ref27efa716c545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4913f3c2454caa" /><Relationship Type="http://schemas.openxmlformats.org/officeDocument/2006/relationships/notesMaster" Target="/ppt/notesMasters/notesMaster1.xml" Id="Rfc31451226064ff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ea7487a28e44806" /><Relationship Type="http://schemas.openxmlformats.org/officeDocument/2006/relationships/notesMaster" Target="/ppt/notesMasters/notesMaster1.xml" Id="R93e4bdcf785049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845baf46495475a" /><Relationship Type="http://schemas.openxmlformats.org/officeDocument/2006/relationships/notesMaster" Target="/ppt/notesMasters/notesMaster1.xml" Id="Ra2a6f06921a84e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2749e2e286b461d" /><Relationship Type="http://schemas.openxmlformats.org/officeDocument/2006/relationships/notesMaster" Target="/ppt/notesMasters/notesMaster1.xml" Id="R2cdf6e97714c47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9adc78d7e645c8" /><Relationship Type="http://schemas.openxmlformats.org/officeDocument/2006/relationships/notesMaster" Target="/ppt/notesMasters/notesMaster1.xml" Id="Rb3ceea0989314b7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4981b104464204" /><Relationship Type="http://schemas.openxmlformats.org/officeDocument/2006/relationships/notesMaster" Target="/ppt/notesMasters/notesMaster1.xml" Id="R8e4b1ce503374a0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f328b6b1614991" /><Relationship Type="http://schemas.openxmlformats.org/officeDocument/2006/relationships/notesMaster" Target="/ppt/notesMasters/notesMaster1.xml" Id="Rdd91be4fec7440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8110416f404a79" /><Relationship Type="http://schemas.openxmlformats.org/officeDocument/2006/relationships/notesMaster" Target="/ppt/notesMasters/notesMaster1.xml" Id="Rb63743e2998046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c01062fe6854c93" /><Relationship Type="http://schemas.openxmlformats.org/officeDocument/2006/relationships/notesMaster" Target="/ppt/notesMasters/notesMaster1.xml" Id="R2a87caa7934d4c5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15a9b863d940a7" /><Relationship Type="http://schemas.openxmlformats.org/officeDocument/2006/relationships/notesMaster" Target="/ppt/notesMasters/notesMaster1.xml" Id="R1e1d560620e24a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f68c313761c443b" /><Relationship Type="http://schemas.openxmlformats.org/officeDocument/2006/relationships/notesMaster" Target="/ppt/notesMasters/notesMaster1.xml" Id="R6b7a108133a14d0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075a9a5afc40cb" /><Relationship Type="http://schemas.openxmlformats.org/officeDocument/2006/relationships/notesMaster" Target="/ppt/notesMasters/notesMaster1.xml" Id="R8059f9b0192d48b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be14b09a3c47f6" /><Relationship Type="http://schemas.openxmlformats.org/officeDocument/2006/relationships/notesMaster" Target="/ppt/notesMasters/notesMaster1.xml" Id="R5eadc835b9b740d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dac9ab7332a4ded" /><Relationship Type="http://schemas.openxmlformats.org/officeDocument/2006/relationships/notesMaster" Target="/ppt/notesMasters/notesMaster1.xml" Id="Rd15140d533f44f5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ee382edab9c42ec" /><Relationship Type="http://schemas.openxmlformats.org/officeDocument/2006/relationships/notesMaster" Target="/ppt/notesMasters/notesMaster1.xml" Id="R480a8a9a0a90421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7f2908eb0544e10" /><Relationship Type="http://schemas.openxmlformats.org/officeDocument/2006/relationships/notesMaster" Target="/ppt/notesMasters/notesMaster1.xml" Id="R4cd6ffebcc414a9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8cbfbaa9bb548f6" /><Relationship Type="http://schemas.openxmlformats.org/officeDocument/2006/relationships/notesMaster" Target="/ppt/notesMasters/notesMaster1.xml" Id="R3cd94b007f1c4a7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11e4b65d424851" /><Relationship Type="http://schemas.openxmlformats.org/officeDocument/2006/relationships/notesMaster" Target="/ppt/notesMasters/notesMaster1.xml" Id="Rbe8569a9f65b4b5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640e1d7ee654fba" /><Relationship Type="http://schemas.openxmlformats.org/officeDocument/2006/relationships/notesMaster" Target="/ppt/notesMasters/notesMaster1.xml" Id="R2148419205a6415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272d456b61f44fd" /><Relationship Type="http://schemas.openxmlformats.org/officeDocument/2006/relationships/notesMaster" Target="/ppt/notesMasters/notesMaster1.xml" Id="Rba77e25f8957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Five-minute solo or team demo. Click START GAME. The game updates scores and lives through linked slides. No macros are needed.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question offers one preferred answer for the demo. Read all facts before choosing. There is no automatic timer.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Ask more. A change in activity needs context. Review the freelance work and supporting records before deciding whether the explanation fits.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Proceed. 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in activity needs context. Review the freelance work and supporting records before deciding whether the explanation fits.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Proceed. 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Preferred answer for this fictional case: Escalate. 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measures choices within these fictional cases, not professional competence. Review the reasoning for each case.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unexplained third-party refund warrants internal AML review. Follow the firm’s payment controls and keep any reporting discussion confidential.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pattern and unresolved explanation warrant an internal AML review. Record the facts and use the approved escalation route.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 the deposit against the customer’s business and the checked evidence. Document the review and continue routine monitoring.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in activity needs context. Review the freelance work and supporting records before deciding whether the explanation fits.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in activity needs context. Review the freelance work and supporting records before deciding whether the explanation fits.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illustrative preferred next steps. Amounts are fictional and do not represent reporting thresholds.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mechanics: questions and feedback use internal slide hyperlinks. Three lives, 100 points per short case, 200 points for the final boss, maximum 500. Exit with Esc. In a real case, follow approved procedures and relevant legal requirements.</a:t>
            </a:r>
          </a:p>
          <a:p xmlns:a="http://schemas.openxmlformats.org/drawingml/2006/main">
            <a:r>
              <a:t>All names, amounts and situations are fictional. The preferred answer is a training judgement based only on the facts shown. Adapt the cases to local law and the firm's approved AML procedures before staff use. Internal escalation does not mean a proven crime or automatic external reporting.</a:t>
            </a:r>
          </a:p>
          <a:p xmlns:a="http://schemas.openxmlformats.org/drawingml/2006/main">
            <a:r>
              <a:t>Source for general principles: FATF Recommendations, updated June 2026. Recommendation 10 and its Interpretive Note on ongoing due diligence and unusual transaction patterns, Recommendations 20 and 21 on suspicious transaction reporting and confidentiality. https://www.fatf-gafi.org/content/dam/fatf-gafi/recommendations/fatf-recommendations-2012.pdf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51d260bd741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2bfcf90a145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7f8b7d2c644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502f2c09547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c5ee0489e42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1f41f6b0a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6D5E6F-33F7-4838-9A34-8FA8BBC07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2F6B0A-33A3-4972-8EB6-9CAC7FD31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6DA145-6D42-4864-88CD-0FAEF3DA1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EC2A4-CB2A-440E-BEB3-C5FE2A868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622349-C5F0-4023-AE3A-25940595D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8DF27F-8E8C-495A-B9F7-DE03652ED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739F7-3EE9-41C7-9418-F4F800435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9946CF-CA20-4E9D-8CCF-2992A97D47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EB3FA1-94A0-4DAB-A1CF-E7BD0EA96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40858B-97F1-4263-A0FE-8267064CC8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02d66512c4084" /><Relationship Type="http://schemas.openxmlformats.org/officeDocument/2006/relationships/slideLayout" Target="/ppt/slideLayouts/slideLayout1.xml" Id="Ra21682c4ede14db5" /><Relationship Type="http://schemas.openxmlformats.org/officeDocument/2006/relationships/slideLayout" Target="/ppt/slideLayouts/slideLayout2.xml" Id="Red0a0891bfde4a26" /><Relationship Type="http://schemas.openxmlformats.org/officeDocument/2006/relationships/slideLayout" Target="/ppt/slideLayouts/slideLayout3.xml" Id="R853a95e94c3d459a" /><Relationship Type="http://schemas.openxmlformats.org/officeDocument/2006/relationships/slideLayout" Target="/ppt/slideLayouts/slideLayout4.xml" Id="Ra1fc909f3aab4459" /><Relationship Type="http://schemas.openxmlformats.org/officeDocument/2006/relationships/slideLayout" Target="/ppt/slideLayouts/slideLayout5.xml" Id="R1ec17fd0e7d9483b" /><Relationship Type="http://schemas.openxmlformats.org/officeDocument/2006/relationships/slideLayout" Target="/ppt/slideLayouts/slideLayout6.xml" Id="Rdf98515262b7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682c4ede14db5"/>
    <p:sldLayoutId xmlns:r="http://schemas.openxmlformats.org/officeDocument/2006/relationships" id="2147483650" r:id="Red0a0891bfde4a26"/>
    <p:sldLayoutId xmlns:r="http://schemas.openxmlformats.org/officeDocument/2006/relationships" id="2147483651" r:id="R853a95e94c3d459a"/>
    <p:sldLayoutId xmlns:r="http://schemas.openxmlformats.org/officeDocument/2006/relationships" id="2147483652" r:id="Ra1fc909f3aab4459"/>
    <p:sldLayoutId xmlns:r="http://schemas.openxmlformats.org/officeDocument/2006/relationships" id="2147483653" r:id="R1ec17fd0e7d9483b"/>
    <p:sldLayoutId xmlns:r="http://schemas.openxmlformats.org/officeDocument/2006/relationships" id="2147483654" r:id="Rdf98515262b7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462c551b21405a"/><Relationship Type="http://schemas.openxmlformats.org/officeDocument/2006/relationships/notesSlide" Target="/ppt/notesSlides/notesSlide1.xml" Id="R1ec9413c11154323"/><Relationship Id="rIdGame1" Type="http://schemas.openxmlformats.org/officeDocument/2006/relationships/slide" Target="slide3.xml"/><Relationship Id="rIdGam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814e03206449b9"/><Relationship Type="http://schemas.openxmlformats.org/officeDocument/2006/relationships/notesSlide" Target="/ppt/notesSlides/notesSlide2.xml" Id="R81f1195435da4d7c"/><Relationship Id="rIdGame1" Type="http://schemas.openxmlformats.org/officeDocument/2006/relationships/slide" Target="slide3.xml"/><Relationship Id="rIdGame2" Type="http://schemas.openxmlformats.org/officeDocument/2006/relationships/slide" Target="slide47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2bfeb0cef8491b"/><Relationship Type="http://schemas.openxmlformats.org/officeDocument/2006/relationships/notesSlide" Target="/ppt/notesSlides/notesSlide3.xml" Id="R5d35348236ef402c"/><Relationship Id="rIdGame1" Type="http://schemas.openxmlformats.org/officeDocument/2006/relationships/slide" Target="slide29.xml"/><Relationship Id="rIdGame2" Type="http://schemas.openxmlformats.org/officeDocument/2006/relationships/slide" Target="slide44.xml"/><Relationship Id="rIdGame3" Type="http://schemas.openxmlformats.org/officeDocument/2006/relationships/slide" Target="slide45.xml"/><Relationship Id="rIdGame4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981275ae934120"/><Relationship Type="http://schemas.openxmlformats.org/officeDocument/2006/relationships/notesSlide" Target="/ppt/notesSlides/notesSlide4.xml" Id="R96836baada7c4995"/><Relationship Id="rIdGame1" Type="http://schemas.openxmlformats.org/officeDocument/2006/relationships/slide" Target="slide21.xml"/><Relationship Id="rIdGame2" Type="http://schemas.openxmlformats.org/officeDocument/2006/relationships/slide" Target="slide27.xml"/><Relationship Id="rIdGame3" Type="http://schemas.openxmlformats.org/officeDocument/2006/relationships/slide" Target="slide28.xml"/><Relationship Id="rIdGame4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510a42620d4ea8"/><Relationship Type="http://schemas.openxmlformats.org/officeDocument/2006/relationships/notesSlide" Target="/ppt/notesSlides/notesSlide5.xml" Id="Re6739612834d4c44"/><Relationship Id="rIdGame1" Type="http://schemas.openxmlformats.org/officeDocument/2006/relationships/slide" Target="slide12.xml"/><Relationship Id="rIdGame2" Type="http://schemas.openxmlformats.org/officeDocument/2006/relationships/slide" Target="slide13.xml"/><Relationship Id="rIdGame3" Type="http://schemas.openxmlformats.org/officeDocument/2006/relationships/slide" Target="slide20.xml"/><Relationship Id="rIdGame4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71ac592f5b40b8"/><Relationship Type="http://schemas.openxmlformats.org/officeDocument/2006/relationships/notesSlide" Target="/ppt/notesSlides/notesSlide6.xml" Id="R6790791fe13b47db"/><Relationship Id="rIdGame1" Type="http://schemas.openxmlformats.org/officeDocument/2006/relationships/slide" Target="slide8.xml"/><Relationship Id="rIdGame2" Type="http://schemas.openxmlformats.org/officeDocument/2006/relationships/slide" Target="slide9.xml"/><Relationship Id="rIdGame3" Type="http://schemas.openxmlformats.org/officeDocument/2006/relationships/slide" Target="slide11.xml"/><Relationship Id="rIdGame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f5766ccaf14129"/><Relationship Type="http://schemas.openxmlformats.org/officeDocument/2006/relationships/notesSlide" Target="/ppt/notesSlides/notesSlide7.xml" Id="R894ae658061c4468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7391b368374c7f"/><Relationship Type="http://schemas.openxmlformats.org/officeDocument/2006/relationships/notesSlide" Target="/ppt/notesSlides/notesSlide8.xml" Id="R700eba79c9924939"/><Relationship Id="rIdGame1" Type="http://schemas.openxmlformats.org/officeDocument/2006/relationships/slide" Target="slide7.xml"/><Relationship Id="rIdGame2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d8c373b1e84680"/><Relationship Type="http://schemas.openxmlformats.org/officeDocument/2006/relationships/notesSlide" Target="/ppt/notesSlides/notesSlide9.xml" Id="Re2810979c1da4684"/><Relationship Id="rIdGame1" Type="http://schemas.openxmlformats.org/officeDocument/2006/relationships/slide" Target="slide7.xml"/><Relationship Id="rIdGame2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d01eca8f338481d"/><Relationship Type="http://schemas.openxmlformats.org/officeDocument/2006/relationships/notesSlide" Target="/ppt/notesSlides/notesSlide10.xml" Id="Ra999cb36aee84ff7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c602693a014b62"/><Relationship Type="http://schemas.openxmlformats.org/officeDocument/2006/relationships/notesSlide" Target="/ppt/notesSlides/notesSlide11.xml" Id="R185c27e9ff994092"/><Relationship Id="rIdGame1" Type="http://schemas.openxmlformats.org/officeDocument/2006/relationships/slide" Target="slide10.xml"/><Relationship Id="rIdGame2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0def7bc831426a"/><Relationship Type="http://schemas.openxmlformats.org/officeDocument/2006/relationships/notesSlide" Target="/ppt/notesSlides/notesSlide12.xml" Id="R981f13627ca34802"/><Relationship Id="rIdGame1" Type="http://schemas.openxmlformats.org/officeDocument/2006/relationships/slide" Target="slide6.xml"/><Relationship Id="rIdGame2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9de8ea99aa4d11"/><Relationship Type="http://schemas.openxmlformats.org/officeDocument/2006/relationships/notesSlide" Target="/ppt/notesSlides/notesSlide13.xml" Id="Rf9f00fad62d943a6"/><Relationship Id="rIdGame1" Type="http://schemas.openxmlformats.org/officeDocument/2006/relationships/slide" Target="slide6.xml"/><Relationship Id="rIdGame2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36c29191254268"/><Relationship Type="http://schemas.openxmlformats.org/officeDocument/2006/relationships/notesSlide" Target="/ppt/notesSlides/notesSlide14.xml" Id="R6f68b772fbee46a9"/><Relationship Id="rIdGame1" Type="http://schemas.openxmlformats.org/officeDocument/2006/relationships/slide" Target="slide16.xml"/><Relationship Id="rIdGame2" Type="http://schemas.openxmlformats.org/officeDocument/2006/relationships/slide" Target="slide17.xml"/><Relationship Id="rIdGame3" Type="http://schemas.openxmlformats.org/officeDocument/2006/relationships/slide" Target="slide19.xml"/><Relationship Id="rIdGame4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37e9c3a3334480"/><Relationship Type="http://schemas.openxmlformats.org/officeDocument/2006/relationships/notesSlide" Target="/ppt/notesSlides/notesSlide15.xml" Id="R0a002a3a62814eb7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127e61ee3a44670"/><Relationship Type="http://schemas.openxmlformats.org/officeDocument/2006/relationships/notesSlide" Target="/ppt/notesSlides/notesSlide16.xml" Id="R6300e110787b406a"/><Relationship Id="rIdGame1" Type="http://schemas.openxmlformats.org/officeDocument/2006/relationships/slide" Target="slide15.xml"/><Relationship Id="rIdGame2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8f5be0ad114f14"/><Relationship Type="http://schemas.openxmlformats.org/officeDocument/2006/relationships/notesSlide" Target="/ppt/notesSlides/notesSlide17.xml" Id="R27806aebea5a4721"/><Relationship Id="rIdGame1" Type="http://schemas.openxmlformats.org/officeDocument/2006/relationships/slide" Target="slide15.xml"/><Relationship Id="rIdGame2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64c49b63ab452e"/><Relationship Type="http://schemas.openxmlformats.org/officeDocument/2006/relationships/notesSlide" Target="/ppt/notesSlides/notesSlide18.xml" Id="R932a495b2b9242f0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9b219f3af1745c1"/><Relationship Type="http://schemas.openxmlformats.org/officeDocument/2006/relationships/notesSlide" Target="/ppt/notesSlides/notesSlide19.xml" Id="R82fd862fed5d4974"/><Relationship Id="rIdGame1" Type="http://schemas.openxmlformats.org/officeDocument/2006/relationships/slide" Target="slide18.xml"/><Relationship Id="rIdGame2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1b9b3b6b044a06"/><Relationship Type="http://schemas.openxmlformats.org/officeDocument/2006/relationships/notesSlide" Target="/ppt/notesSlides/notesSlide20.xml" Id="R8448acdac5794844"/><Relationship Id="rIdGame1" Type="http://schemas.openxmlformats.org/officeDocument/2006/relationships/slide" Target="slide14.xml"/><Relationship Id="rIdGame2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7f709b46340460d"/><Relationship Type="http://schemas.openxmlformats.org/officeDocument/2006/relationships/notesSlide" Target="/ppt/notesSlides/notesSlide21.xml" Id="R62f618a49279449d"/><Relationship Id="rIdGame1" Type="http://schemas.openxmlformats.org/officeDocument/2006/relationships/slide" Target="slide5.xml"/><Relationship Id="rIdGame2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0016b4e4e184f3c"/><Relationship Type="http://schemas.openxmlformats.org/officeDocument/2006/relationships/notesSlide" Target="/ppt/notesSlides/notesSlide22.xml" Id="R5bb4c6df03cf4d31"/><Relationship Id="rIdGame1" Type="http://schemas.openxmlformats.org/officeDocument/2006/relationships/slide" Target="slide24.xml"/><Relationship Id="rIdGame2" Type="http://schemas.openxmlformats.org/officeDocument/2006/relationships/slide" Target="slide25.xml"/><Relationship Id="rIdGame3" Type="http://schemas.openxmlformats.org/officeDocument/2006/relationships/slide" Target="slide26.xml"/><Relationship Id="rIdGame4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1879dfa7deb45f5"/><Relationship Type="http://schemas.openxmlformats.org/officeDocument/2006/relationships/notesSlide" Target="/ppt/notesSlides/notesSlide23.xml" Id="Rf301330f9e3d4a78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58d65a6aea4bfb"/><Relationship Type="http://schemas.openxmlformats.org/officeDocument/2006/relationships/notesSlide" Target="/ppt/notesSlides/notesSlide24.xml" Id="R9b6fc5d64b74465d"/><Relationship Id="rIdGame1" Type="http://schemas.openxmlformats.org/officeDocument/2006/relationships/slide" Target="slide23.xml"/><Relationship Id="rIdGame2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50656feb2a4105"/><Relationship Type="http://schemas.openxmlformats.org/officeDocument/2006/relationships/notesSlide" Target="/ppt/notesSlides/notesSlide25.xml" Id="Ra61720b1440a4175"/><Relationship Id="rIdGame1" Type="http://schemas.openxmlformats.org/officeDocument/2006/relationships/slide" Target="slide23.xml"/><Relationship Id="rIdGame2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91ed7c21ff4dd6"/><Relationship Type="http://schemas.openxmlformats.org/officeDocument/2006/relationships/notesSlide" Target="/ppt/notesSlides/notesSlide26.xml" Id="Rb5f6cc61798a4097"/><Relationship Id="rIdGame1" Type="http://schemas.openxmlformats.org/officeDocument/2006/relationships/slide" Target="slide6.xml"/><Relationship Id="rIdGame2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5467c36f7f4f86"/><Relationship Type="http://schemas.openxmlformats.org/officeDocument/2006/relationships/notesSlide" Target="/ppt/notesSlides/notesSlide27.xml" Id="R6c2a638025ed4bfb"/><Relationship Id="rIdGame1" Type="http://schemas.openxmlformats.org/officeDocument/2006/relationships/slide" Target="slide22.xml"/><Relationship Id="rIdGame2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820db216764ec2"/><Relationship Type="http://schemas.openxmlformats.org/officeDocument/2006/relationships/notesSlide" Target="/ppt/notesSlides/notesSlide28.xml" Id="Rf376b015573c46c6"/><Relationship Id="rIdGame1" Type="http://schemas.openxmlformats.org/officeDocument/2006/relationships/slide" Target="slide22.xml"/><Relationship Id="rIdGame2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e4748d22138404b"/><Relationship Type="http://schemas.openxmlformats.org/officeDocument/2006/relationships/notesSlide" Target="/ppt/notesSlides/notesSlide29.xml" Id="Re0aeb5285e8641bf"/><Relationship Id="rIdGame1" Type="http://schemas.openxmlformats.org/officeDocument/2006/relationships/slide" Target="slide4.xml"/><Relationship Id="rIdGame2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eeb64d463e4391"/><Relationship Type="http://schemas.openxmlformats.org/officeDocument/2006/relationships/notesSlide" Target="/ppt/notesSlides/notesSlide30.xml" Id="R6ff6bbde037e4948"/><Relationship Id="rIdGame1" Type="http://schemas.openxmlformats.org/officeDocument/2006/relationships/slide" Target="slide41.xml"/><Relationship Id="rIdGame2" Type="http://schemas.openxmlformats.org/officeDocument/2006/relationships/slide" Target="slide42.xml"/><Relationship Id="rIdGame3" Type="http://schemas.openxmlformats.org/officeDocument/2006/relationships/slide" Target="slide43.xml"/><Relationship Id="rIdGame4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17fe0274a2b477a"/><Relationship Type="http://schemas.openxmlformats.org/officeDocument/2006/relationships/notesSlide" Target="/ppt/notesSlides/notesSlide31.xml" Id="R48559b7a15a34dfb"/><Relationship Id="rIdGame1" Type="http://schemas.openxmlformats.org/officeDocument/2006/relationships/slide" Target="slide32.xml"/><Relationship Id="rIdGame2" Type="http://schemas.openxmlformats.org/officeDocument/2006/relationships/slide" Target="slide33.xml"/><Relationship Id="rIdGame3" Type="http://schemas.openxmlformats.org/officeDocument/2006/relationships/slide" Target="slide40.xml"/><Relationship Id="rIdGame4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e07ef4a816b47a6"/><Relationship Type="http://schemas.openxmlformats.org/officeDocument/2006/relationships/notesSlide" Target="/ppt/notesSlides/notesSlide32.xml" Id="Ra5ffc33734844afd"/><Relationship Id="rIdGame1" Type="http://schemas.openxmlformats.org/officeDocument/2006/relationships/slide" Target="slide14.xml"/><Relationship Id="rIdGame2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25dd71b5f94902"/><Relationship Type="http://schemas.openxmlformats.org/officeDocument/2006/relationships/notesSlide" Target="/ppt/notesSlides/notesSlide33.xml" Id="R71db4ba63898460c"/><Relationship Id="rIdGame1" Type="http://schemas.openxmlformats.org/officeDocument/2006/relationships/slide" Target="slide14.xml"/><Relationship Id="rIdGame2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2976b33a024d73"/><Relationship Type="http://schemas.openxmlformats.org/officeDocument/2006/relationships/notesSlide" Target="/ppt/notesSlides/notesSlide34.xml" Id="Rd888368ff3cd459b"/><Relationship Id="rIdGame1" Type="http://schemas.openxmlformats.org/officeDocument/2006/relationships/slide" Target="slide36.xml"/><Relationship Id="rIdGame2" Type="http://schemas.openxmlformats.org/officeDocument/2006/relationships/slide" Target="slide37.xml"/><Relationship Id="rIdGame3" Type="http://schemas.openxmlformats.org/officeDocument/2006/relationships/slide" Target="slide39.xml"/><Relationship Id="rIdGame4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0de54d7f1f4a4f"/><Relationship Type="http://schemas.openxmlformats.org/officeDocument/2006/relationships/notesSlide" Target="/ppt/notesSlides/notesSlide35.xml" Id="R21487409149e4700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c4a25603574a38"/><Relationship Type="http://schemas.openxmlformats.org/officeDocument/2006/relationships/notesSlide" Target="/ppt/notesSlides/notesSlide36.xml" Id="Rae4157a0dd20430e"/><Relationship Id="rIdGame1" Type="http://schemas.openxmlformats.org/officeDocument/2006/relationships/slide" Target="slide35.xml"/><Relationship Id="rIdGame2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033f4c067d44915"/><Relationship Type="http://schemas.openxmlformats.org/officeDocument/2006/relationships/notesSlide" Target="/ppt/notesSlides/notesSlide37.xml" Id="R5df56e864c084c4c"/><Relationship Id="rIdGame1" Type="http://schemas.openxmlformats.org/officeDocument/2006/relationships/slide" Target="slide35.xml"/><Relationship Id="rIdGame2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369bc6a4454a31"/><Relationship Type="http://schemas.openxmlformats.org/officeDocument/2006/relationships/notesSlide" Target="/ppt/notesSlides/notesSlide38.xml" Id="Rf8a71edaf2984050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975d5bb95434a12"/><Relationship Type="http://schemas.openxmlformats.org/officeDocument/2006/relationships/notesSlide" Target="/ppt/notesSlides/notesSlide39.xml" Id="R5ce04193137d460b"/><Relationship Id="rIdGame1" Type="http://schemas.openxmlformats.org/officeDocument/2006/relationships/slide" Target="slide38.xml"/><Relationship Id="rIdGame2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2698a8b8d1b411b"/><Relationship Type="http://schemas.openxmlformats.org/officeDocument/2006/relationships/notesSlide" Target="/ppt/notesSlides/notesSlide40.xml" Id="R7782d7da3bf54f17"/><Relationship Id="rIdGame1" Type="http://schemas.openxmlformats.org/officeDocument/2006/relationships/slide" Target="slide34.xml"/><Relationship Id="rIdGame2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5a721c3f20d41f5"/><Relationship Type="http://schemas.openxmlformats.org/officeDocument/2006/relationships/notesSlide" Target="/ppt/notesSlides/notesSlide41.xml" Id="R865fd06906764e68"/><Relationship Id="rIdGame1" Type="http://schemas.openxmlformats.org/officeDocument/2006/relationships/slide" Target="slide31.xml"/><Relationship Id="rIdGame2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7ca3f9932e84612"/><Relationship Type="http://schemas.openxmlformats.org/officeDocument/2006/relationships/notesSlide" Target="/ppt/notesSlides/notesSlide42.xml" Id="R9b0e218bd18243bf"/><Relationship Id="rIdGame1" Type="http://schemas.openxmlformats.org/officeDocument/2006/relationships/slide" Target="slide5.xml"/><Relationship Id="rIdGame2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260eaab4944a70"/><Relationship Type="http://schemas.openxmlformats.org/officeDocument/2006/relationships/notesSlide" Target="/ppt/notesSlides/notesSlide43.xml" Id="R50af2cbba5774755"/><Relationship Id="rIdGame1" Type="http://schemas.openxmlformats.org/officeDocument/2006/relationships/slide" Target="slide5.xml"/><Relationship Id="rIdGame2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3460580d3a41b7"/><Relationship Type="http://schemas.openxmlformats.org/officeDocument/2006/relationships/notesSlide" Target="/ppt/notesSlides/notesSlide44.xml" Id="Rcb364ed58cea4bfe"/><Relationship Id="rIdGame1" Type="http://schemas.openxmlformats.org/officeDocument/2006/relationships/slide" Target="slide30.xml"/><Relationship Id="rIdGame2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5943798b9d429e"/><Relationship Type="http://schemas.openxmlformats.org/officeDocument/2006/relationships/notesSlide" Target="/ppt/notesSlides/notesSlide45.xml" Id="Rff3cbcba6a6a47be"/><Relationship Id="rIdGame1" Type="http://schemas.openxmlformats.org/officeDocument/2006/relationships/slide" Target="slide4.xml"/><Relationship Id="rIdGame2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1a2a146d244000"/><Relationship Type="http://schemas.openxmlformats.org/officeDocument/2006/relationships/notesSlide" Target="/ppt/notesSlides/notesSlide46.xml" Id="R6b05dc4e76a94d4a"/><Relationship Id="rIdGame1" Type="http://schemas.openxmlformats.org/officeDocument/2006/relationships/slide" Target="slide3.xml"/><Relationship Id="rIdGame2" Type="http://schemas.openxmlformats.org/officeDocument/2006/relationships/slide" Target="slide47.xml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75ef553dd949bd"/><Relationship Type="http://schemas.openxmlformats.org/officeDocument/2006/relationships/notesSlide" Target="/ppt/notesSlides/notesSlide47.xml" Id="Rd6cd0db7fd4648ee"/><Relationship Id="rIdGame1" Type="http://schemas.openxmlformats.org/officeDocument/2006/relationships/slide" Target="slide3.xml"/><Relationship Id="rIdGame2" Type="http://schemas.openxmlformats.org/officeDocument/2006/relationships/slide" Target="slide4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4340085A-98B0-480A-9120-DDA4B4F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968CD5BA-4A07-4667-A251-484AB42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DEMO 01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3D6059-DCDF-46AC-9827-F99C50A3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1">
            <a:extLst xmlns:a="http://schemas.openxmlformats.org/drawingml/2006/main">
              <a:ext uri="{FF2B5EF4-FFF2-40B4-BE49-F238E27FC236}">
                <a16:creationId xmlns:a16="http://schemas.microsoft.com/office/drawing/2014/main" id="{90825493-90D9-47B3-B04E-D4CD800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00" b="1">
                <a:solidFill>
                  <a:srgbClr val="F5F1E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300" b="1">
                <a:solidFill>
                  <a:srgbClr val="F5F1E7"/>
                </a:solidFill>
                <a:latin typeface="Courier New"/>
                <a:ea typeface="Courier New"/>
                <a:cs typeface="Courier New"/>
              </a:defRPr>
            </a:pPr>
            <a:r>
              <a:rPr sz="9300" b="1">
                <a:solidFill>
                  <a:srgbClr val="F5F1E7"/>
                </a:solidFill>
                <a:latin typeface="Courier New"/>
                <a:ea typeface="Courier New"/>
                <a:cs typeface="Courier New"/>
              </a:rPr>
              <a:t>RED FLAG</a:t>
            </a:r>
          </a:p>
        </p:txBody>
      </p:sp>
      <p:sp>
        <p:nvSpPr>
          <p:cNvPr id="5" name="title-line2">
            <a:extLst xmlns:a="http://schemas.openxmlformats.org/drawingml/2006/main">
              <a:ext uri="{FF2B5EF4-FFF2-40B4-BE49-F238E27FC236}">
                <a16:creationId xmlns:a16="http://schemas.microsoft.com/office/drawing/2014/main" id="{2E192179-647C-4F42-8C14-2A9D4EA2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8477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RUSH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1DEB0C2-E5E2-456F-B39F-3A3A554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Four cases. Your next move?</a:t>
            </a:r>
          </a:p>
        </p:txBody>
      </p:sp>
      <p:sp>
        <p:nvSpPr>
          <p:cNvPr id="7" name="start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CC9BA25-276A-488C-B8D8-9C326B4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START GAME</a:t>
            </a:r>
          </a:p>
        </p:txBody>
      </p:sp>
      <p:sp>
        <p:nvSpPr>
          <p:cNvPr id="8" name="rules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D1D2432-D1ED-495F-B2C3-515827EF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29225"/>
            <a:ext cx="295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HOW TO PLAY</a:t>
            </a:r>
          </a:p>
        </p:txBody>
      </p:sp>
      <p:sp>
        <p:nvSpPr>
          <p:cNvPr id="9" name="setup">
            <a:extLst xmlns:a="http://schemas.openxmlformats.org/drawingml/2006/main">
              <a:ext uri="{FF2B5EF4-FFF2-40B4-BE49-F238E27FC236}">
                <a16:creationId xmlns:a16="http://schemas.microsoft.com/office/drawing/2014/main" id="{6BB2D772-8020-41B7-92A0-AB05EA3B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Open in desktop PowerPoint, then start Slide Show.</a:t>
            </a:r>
          </a:p>
        </p:txBody>
      </p:sp>
    </p:spTree>
    <p:extLst>
      <p:ext uri="{BB962C8B-B14F-4D97-AF65-F5344CB8AC3E}">
        <p14:creationId xmlns:p14="http://schemas.microsoft.com/office/powerpoint/2010/main" val="484028292"/>
      </p:ext>
    </p:extLst>
  </p:cSld>
  <p:transition advClick="0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80DEB257-997C-476D-96D5-689A62C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81CFE7DC-D33E-47BB-BB79-EFE5450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HOW TO PLAY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9AAA7DD-F07B-49B9-8CC2-0C1F141B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82A4B1-E16E-4399-850B-45CC995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controls</a:t>
            </a:r>
          </a:p>
        </p:txBody>
      </p:sp>
      <p:sp>
        <p:nvSpPr>
          <p:cNvPr id="5" name="control-0">
            <a:extLst xmlns:a="http://schemas.openxmlformats.org/drawingml/2006/main">
              <a:ext uri="{FF2B5EF4-FFF2-40B4-BE49-F238E27FC236}">
                <a16:creationId xmlns:a16="http://schemas.microsoft.com/office/drawing/2014/main" id="{A84C4941-D136-415C-B09E-A4DD01B0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PROCEED</a:t>
            </a:r>
          </a:p>
        </p:txBody>
      </p:sp>
      <p:sp>
        <p:nvSpPr>
          <p:cNvPr id="6" name="definition-0">
            <a:extLst xmlns:a="http://schemas.openxmlformats.org/drawingml/2006/main">
              <a:ext uri="{FF2B5EF4-FFF2-40B4-BE49-F238E27FC236}">
                <a16:creationId xmlns:a16="http://schemas.microsoft.com/office/drawing/2014/main" id="{0E825096-46DF-4A66-8EA0-8BAB6AE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76450"/>
            <a:ext cx="826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reviewed facts fit the profile. Document the rationale and continue routine monitoring.</a:t>
            </a:r>
          </a:p>
        </p:txBody>
      </p:sp>
      <p:sp>
        <p:nvSpPr>
          <p:cNvPr id="7" name="control-1">
            <a:extLst xmlns:a="http://schemas.openxmlformats.org/drawingml/2006/main">
              <a:ext uri="{FF2B5EF4-FFF2-40B4-BE49-F238E27FC236}">
                <a16:creationId xmlns:a16="http://schemas.microsoft.com/office/drawing/2014/main" id="{880A955A-7F2D-4C6C-A66F-2E7C339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ASK MORE</a:t>
            </a:r>
          </a:p>
        </p:txBody>
      </p:sp>
      <p:sp>
        <p:nvSpPr>
          <p:cNvPr id="8" name="definition-1">
            <a:extLst xmlns:a="http://schemas.openxmlformats.org/drawingml/2006/main">
              <a:ext uri="{FF2B5EF4-FFF2-40B4-BE49-F238E27FC236}">
                <a16:creationId xmlns:a16="http://schemas.microsoft.com/office/drawing/2014/main" id="{A2662376-A778-465B-A54D-BFC8DD2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9900"/>
            <a:ext cx="826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gap remains. Gather relevant context or supporting records.</a:t>
            </a:r>
          </a:p>
        </p:txBody>
      </p:sp>
      <p:sp>
        <p:nvSpPr>
          <p:cNvPr id="9" name="control-2">
            <a:extLst xmlns:a="http://schemas.openxmlformats.org/drawingml/2006/main">
              <a:ext uri="{FF2B5EF4-FFF2-40B4-BE49-F238E27FC236}">
                <a16:creationId xmlns:a16="http://schemas.microsoft.com/office/drawing/2014/main" id="{33C9BD7B-AF17-41D0-8E0B-DB89207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ESCALATE</a:t>
            </a:r>
          </a:p>
        </p:txBody>
      </p:sp>
      <p:sp>
        <p:nvSpPr>
          <p:cNvPr id="10" name="definition-2">
            <a:extLst xmlns:a="http://schemas.openxmlformats.org/drawingml/2006/main">
              <a:ext uri="{FF2B5EF4-FFF2-40B4-BE49-F238E27FC236}">
                <a16:creationId xmlns:a16="http://schemas.microsoft.com/office/drawing/2014/main" id="{4D37F50E-3D7B-4698-A2D5-A200422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43350"/>
            <a:ext cx="826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An unresolved concern needs the internal AML review route.</a:t>
            </a:r>
          </a:p>
        </p:txBody>
      </p:sp>
      <p:sp>
        <p:nvSpPr>
          <p:cNvPr id="11" name="scoring">
            <a:extLst xmlns:a="http://schemas.openxmlformats.org/drawingml/2006/main">
              <a:ext uri="{FF2B5EF4-FFF2-40B4-BE49-F238E27FC236}">
                <a16:creationId xmlns:a16="http://schemas.microsoft.com/office/drawing/2014/main" id="{F996B0D1-00D6-4C3E-A778-3FCB5B6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BF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BF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BF47"/>
                </a:solidFill>
                <a:latin typeface="Arial"/>
                <a:ea typeface="Arial"/>
                <a:cs typeface="Arial"/>
              </a:rPr>
              <a:t>3 lives. Lose 1 for a weaker decision. Cases earn 100 points each. The boss earns 200.</a:t>
            </a:r>
          </a:p>
        </p:txBody>
      </p:sp>
      <p:sp>
        <p:nvSpPr>
          <p:cNvPr id="12" name="play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FC53030-F7F4-4962-AB34-83A9441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LET’S PLAY</a:t>
            </a:r>
          </a:p>
        </p:txBody>
      </p:sp>
      <p:sp>
        <p:nvSpPr>
          <p:cNvPr id="13" name="host-link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71B77CD-858B-4B30-B395-551BD29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38825"/>
            <a:ext cx="3086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HOST GUIDE</a:t>
            </a:r>
          </a:p>
        </p:txBody>
      </p:sp>
    </p:spTree>
    <p:extLst>
      <p:ext uri="{BB962C8B-B14F-4D97-AF65-F5344CB8AC3E}">
        <p14:creationId xmlns:p14="http://schemas.microsoft.com/office/powerpoint/2010/main" val="793107192"/>
      </p:ext>
    </p:extLst>
  </p:cSld>
  <p:transition advClick="0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9F96F7A8-939A-4030-9967-20DA4A1C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9F8C9DCD-9562-4AD0-8F72-45DF429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01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E7FD57C1-F8DA-4E54-B938-67ED287E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CDEB48CA-1203-4FB6-8D1F-B21B3923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BDADD3EB-5BD2-4022-9C86-2390B6C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151F8AAB-BDE9-4996-AB29-DE91530F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320601A-B6E0-4E9E-B140-287FC650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D16308-D52C-4C24-81D8-670A644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side hustle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BB223E11-B48C-46E0-95E8-420F8DF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 salary account starts receiving business payments.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6C2FEAA6-5C5A-4324-8578-86D7D09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USUAL ACTIVITY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619C4B78-4940-4498-A36B-08B1BBE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Monthly salary of INR 65,000.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38E31D2B-823C-4B1F-BA81-989573C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THIS WEEK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B43AC40B-0D9D-41CC-89D1-4E7656F4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8 payments from different businesses, totalling INR 2.4 lakh.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7FDB3F51-05AD-4AC7-B618-468F549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FILE CHECK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91C86C23-4AE2-4593-9062-040156D3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says they now freelance. You have not reviewed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FECD53BF-166B-43F0-8464-7FBBC39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62AE7BA7-E3BE-4E08-9EEC-EA7268A7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D6CC4256-205C-40BE-9C50-7CCE081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“I build websites on the side. These are payments from my clients.”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E139D20E-B422-45DF-970A-9BEB317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5FA3335-43AF-4703-A4A5-6E7FD17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65AF53B-A0D2-412B-A0A6-9B0D0F58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572EF98-EF71-4CA5-93FD-1917590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6EA2C8E6-36EB-4C86-8D0E-7779199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8C7F0E4-1D47-4074-99F1-0AE13B1B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921353226"/>
      </p:ext>
    </p:extLst>
  </p:cSld>
  <p:transition advClick="0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E203C72A-6EB2-49C0-AAC3-F4A08A0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CFFFAC8B-D3F3-470A-BCD3-E4DCBA2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FAFD7A35-3D2A-4E28-BE07-E3F9AF9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0420918A-E373-4A76-8376-27DB0CC3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55014265-56C1-498F-881C-108B3E9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B0EB93C2-1DC8-4C1C-9C77-A1D16D71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7330FA5-0F90-4B95-B320-491DED0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BDEA6C5-DC51-4528-AD99-275ACE3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Festival takings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E302F7A2-6F8D-4D3C-B90D-B8AED9D2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 cash deposit is higher than usual.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D1F2CCFC-AC70-4BFE-AB29-16A7973C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CUSTOMER PROFILE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7C6CD19D-3B46-495C-B37C-45347AD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An established sweets shop with expected seasonal peaks.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A6F81FD0-2844-4595-89B1-3B760D5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TODAY’S DEPOSIT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DA14AA47-E0C3-454C-BF83-2E9AD279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INR 4.8 lakh after a busy festival weekend.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659E91AE-9970-449A-AA97-F68D03D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REVIEW COMPLETE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493DCA0B-CB17-4E57-9275-4692BED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Checked sales records support the deposit. It fits the expected activity. No other concerns arise.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D45F3108-ADDA-4DD0-92E9-DEF8CA7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6F1E57C4-36D1-4B65-A18E-DF1B5D7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DF7693A1-1C20-47D0-ADDE-39C0AFD3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“The weekend was packed. The sales records are in the file.”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8B6A7761-D469-40B0-AE0D-3B19F427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C6E995E-3179-4016-8F17-7EDA5967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5ADCE08-CAE2-46B0-8461-C1DB250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0C1F3EA-FDF3-4AEE-9BD2-D940BAAD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CB23DDBB-CDE9-4468-95DE-89A75A6D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1C3BA36-1418-4FB4-B748-9BD1FA8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710615911"/>
      </p:ext>
    </p:extLst>
  </p:cSld>
  <p:transition advClick="0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81344988-DEFC-4583-BB9E-658C3949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62F05774-DB7F-4B0D-8EC2-56259510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E3B88AE0-F3B4-4C6E-87BE-52D2E3E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51E17AA3-256D-4CFA-8A3F-26300C9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6E5060CD-A60D-429E-A160-7CDCF2DF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5EB913C5-C1AF-47EA-9264-2A43902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D574467-1DBF-4A71-9D75-209F42D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C0A087C-B09B-4A30-A6A8-0332186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Just passing through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5F8AE505-C429-4FE7-A95F-BAA55D96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Money arrives, then almost all of it moves out.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1BF3B027-43DA-4570-81FA-03D66C2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ACCOUNT HISTORY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4B10EF64-451E-44A5-920D-F267FE8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personal account with no activity for six months.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14C0D5B4-8084-4983-9392-5098011F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LAST 48 HOURS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3B7182FD-35A4-4645-A7C2-29FC3501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18 unrelated senders pay INR 6.2 lakh. About 95% moves to two recipients on the same day.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77AF0380-86C1-47A8-B57B-EA500D2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ENQUIRY SO FAR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66D2F54B-9726-4017-82F1-8D9F6C73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declines to explain the relationships or provide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C7EAFB09-B8C7-4CBC-96A9-0993C34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8CD1B40A-0CEE-4D3F-B9AA-7D6FB28C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F7E64270-F516-4108-AF34-A174807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“I’m doing favours for people. I don’t want to get into the details.”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AF63087D-BE41-4AE2-B8C6-1D4F991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C94C8D9-9468-4F91-B595-2814666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ED38E75-2F6E-4868-934D-8F7D983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79D4C98-5E5A-464C-8BE6-03314D81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B18A13C9-98D1-4C6F-BF18-54858F2D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5DC5097-861C-4DB2-8DD7-197C405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540803960"/>
      </p:ext>
    </p:extLst>
  </p:cSld>
  <p:transition advClick="0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3EB95604-9320-42DE-9E41-65446A4E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173E2CE7-0DC0-4AA0-8BA3-F6EC79CA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1D51B65-EE7F-4E4E-AC5E-B472806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B62D927E-EF96-416D-BA8E-24BF162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5F5A92D6-C595-43C6-B05B-56D8783C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7B6D7132-55F6-481C-8737-CCC3F9A2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565735D-D947-4BDB-8612-5B6D625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B95E36A-2A2A-4F76-955E-B9877C3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different refund account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AFB71A60-051C-4D52-AA1F-067833A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An order is cancelled. The refund instructions change.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583B9F14-671D-4A4F-8753-D1BF687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PAYMENT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585F6282-F44D-45FF-A21A-9804414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furniture business receives INR 10.5 lakh for a bulk order.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CE7DF136-8A31-458A-8F82-13E9EF4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CHANGE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EF430279-2BDF-4327-B314-40F86948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wants INR 9.9 lakh refunded to an unrelated individual instead of the original payer.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1F4F085E-A74A-4258-A1BC-0ED456B4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UNRESOLVED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B09ACCB3-39A0-4167-90B4-ED43D8D2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After an enquiry, the customer declines to explain the link or supply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28FD7EE7-046F-41C5-BC65-5E6BC05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14C20459-6AE3-4FCA-80D7-616B3E82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CC13AB2C-E4F8-4125-8EEA-5D7EA08A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“That’s the buyer’s agent. Just send the refund there. We’ve told you enough.”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970B7FEA-1A41-4611-85C3-C84AC083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50DFEA2-7AD6-460A-8B75-9C0B816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28D317C-BDD5-4374-B9CA-A1542A4B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E2922DA-F3EB-4F16-ABD0-54A4245D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008959F2-1036-4C21-8700-273FEFA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reward: 200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C185DF8-9953-428C-8719-11A24F5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06157848"/>
      </p:ext>
    </p:extLst>
  </p:cSld>
  <p:transition advClick="0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3492C1F5-0740-409E-8FA7-F07137E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8FF7B1DD-6E51-406F-B2D2-95F17F03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F2BA69EA-3B6B-4987-B342-45FACFB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31780D98-BFAC-4539-BAD5-400A7F4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F15AF13F-452E-41A0-9CDD-E7C8B2E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E3BB4D59-A0BE-43E6-BBAC-B59CCAF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6DD392F-5F95-4154-BD82-CE9C6003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7F880EE6-EDAA-44ED-B921-8664781A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GAME OVER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C811B902-D2F5-455F-8014-F6B76DA6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1C4B7D4B-F7ED-4E8F-9353-9C96A092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ECB6DB5D-A823-4E81-9BDF-E3DB55C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Three lives used. A fresh run starts from zero.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D92470D-FF1B-4CD9-BD2C-FDC2333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B2E6FDE-4EB0-4DE2-9CD4-514FA2C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561743885"/>
      </p:ext>
    </p:extLst>
  </p:cSld>
  <p:transition advClick="0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6DD069DA-0430-420E-8044-60DE20F8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7AE88ADD-5CCD-43E9-B498-B503F88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714CFBD8-12D2-48C3-9A98-ED8164C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8E0D50E0-F4F2-41C9-9CCA-724697C5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C7E1172A-63AF-4B3C-9786-0A7DC936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F1DD47B7-3E1C-4521-A99B-B70A16D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0335CA3-5BCF-4762-8D0E-EBC54827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F0A60726-FA4B-4763-A4C3-EF376A0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786A775-DF22-456A-9103-84FC408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refund needs review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C455BC06-13AB-4D42-A9C4-8C6AC28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cancellation does not explain why an unrelated person should receive the refund. The unresolved mismatch needs internal review.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DC471FC3-9B75-475F-84C1-F76C595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130C7D29-7EA9-4F5F-B056-312268F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C8312C1-B476-4B8E-94F6-A12336AA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1D733E03-161A-40BA-8735-65EC2027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20D4929-1568-40E6-905D-D084771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402186849"/>
      </p:ext>
    </p:extLst>
  </p:cSld>
  <p:transition advClick="0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CFC74191-73EF-4735-803D-CFF0C1E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583BC969-FA3F-45B9-96B8-BB109179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F8A740C-E29D-4CD6-B453-E6580819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0EE5164D-2486-4F04-B809-F4132A04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B0BC0E69-8460-474C-997D-55F5C27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02187A4F-09F9-4377-B79D-231A0680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E0088DC-F5D0-44FB-B43E-66D8CE4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3321775A-BB66-42AD-BE3C-4DBE2CB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7285D6F-D7EF-491F-965F-63CDF4F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link is still missing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7470649C-FAF5-4BB0-96CC-563BE739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has already declined to support the explanation. Use the internal escalation route for the unresolved concern.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10BBD07C-501F-4D5F-881D-1BA8314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E4688489-CD06-4320-B094-B185701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F8F437B-AE34-49F0-B292-365F7CD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5E4AA1E-551B-4342-B15D-C4BE085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6041988-1ADA-4776-8B75-A914C23A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633980454"/>
      </p:ext>
    </p:extLst>
  </p:cSld>
  <p:transition advClick="0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B7074499-CA39-4594-9117-3697D1A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F1B8E8EE-061B-42B5-A18F-47CAB13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7BB8D9C-F189-4B2B-843C-2040C29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F1D5BA35-0A55-42DB-8186-A7FE91B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8443C6AB-1FEF-4E06-8589-C04445C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CB7836D3-6834-483D-9F11-9D0076D8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FFEB3B-49BD-4FD1-AFF6-5EFAB33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46A22BC6-CBD7-45C3-82AC-4A25381D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RUN COMPLETE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25A01CC6-977B-413B-BA74-4E77004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8DB62922-E812-49D2-A3D4-72451297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6AF18F33-3016-4AE6-A652-A73807AD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Run complete. Compare your decisions with the case review.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6DCDA88-E224-48B1-946D-7681286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0C6A9C6-3D74-4AB2-97E9-6714B3B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397254594"/>
      </p:ext>
    </p:extLst>
  </p:cSld>
  <p:transition advClick="0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89FE27F9-9D7B-4BEC-B86C-BE070038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E25F6F35-B333-419F-B0A5-910A680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0A2F82C-29B1-49A4-BF9A-626C86F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978A0E90-3995-4A48-9F73-3A6CB128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28D65B28-4B6B-417B-BA2C-FA1B7C1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121014DF-88CC-46BE-9773-F182DCE8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584008F-7680-434F-BB5B-431A2E2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3AA5A954-5D1E-43F0-A41B-37662C88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61BE160-50EA-4734-86B3-D64017F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Boss cleared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226836BB-DB0E-4DA0-A4F7-C343E7E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unexplained refund request internally and follow payment controls. Any external reporting decision follows the approved process.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C0BD750C-AC1D-42D0-8574-88C4292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8A07AF16-5C0F-4DDF-BE5B-F20575E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+200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3F437BD-8116-4841-8E24-813868C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DF82CC5-8500-4EFE-9777-ED205D5B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87BEFEA-02E2-4852-98EB-9BF4228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910109709"/>
      </p:ext>
    </p:extLst>
  </p:cSld>
  <p:transition advClick="0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00A50F61-AFA1-42F6-B3A7-265E3649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864FEA1B-AF31-476E-B94D-7A6E0FF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7823AAB-A951-4298-965B-D1A6BD3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7904A52E-B1AC-4DD2-B21A-700A202D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4CD03714-3E30-4E33-B714-30EDB7AA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7AA807E5-6DCC-462A-85B7-4E8C8D7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68B241F-8E63-443B-81C9-6F3E2AF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A409EA2A-A36B-4D73-B50E-55F211F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C27FD45-9600-4986-B922-58AB1F40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concern remains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CC80AA0B-A39A-41C0-B374-3433709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activity differs sharply from the known profile, and the customer has not explained it. Closing the review is too early.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E6556BB8-8A33-4B2B-A1A1-0E3930ED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5A5E23CF-706B-4BFE-8279-0579A23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061F033-2ED5-4852-9BA9-E923586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FC1A66F1-200B-4699-A1D9-FDD906B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1C9273F-3118-4D82-8962-2618D95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85590095"/>
      </p:ext>
    </p:extLst>
  </p:cSld>
  <p:transition advClick="0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71A11BF4-E3F1-4518-A9A1-28CB5473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2C6DB978-43FA-4E9F-92AC-7A9EFFF9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DACA66D8-A973-4CE1-B0C7-0310E05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DD95A21F-120A-40A7-8835-5735468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DD3D076-E748-4BA9-88D7-0ADEECAE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A6597F85-7BC6-4322-BBFF-358DC46A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50A170F-3387-4623-9DCE-8B30791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A0522DBD-F9D6-4827-A56E-7760FF6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7404A6-2A40-45E3-842F-509AF58A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enquiry has stalled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171DA023-98DF-42E3-80AD-559DDE1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You have already asked for context. The unexplained activity now warrants internal review rather than repeating the same request.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04CB0009-E10C-4B45-B5BF-3B768A13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E5F5F3D2-9CBB-49A2-B95F-126C7955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7E3AD58-8EBF-4718-A708-60D1AB39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D91ECBD-C1DF-4302-848F-BFE2FB7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39356F1-28FF-474D-9278-3049FE7C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959626751"/>
      </p:ext>
    </p:extLst>
  </p:cSld>
  <p:transition advClick="0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ABDBD367-22A0-4668-B7D8-43BBAF48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1287893E-5DCA-4451-85AA-802B08AB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64C8890-36B8-4516-AD7F-983DD22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CD2739A2-488C-4DC1-93A0-FACC2C17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992DDBAC-1595-46E2-B228-EBB966D3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9C68155B-FA2D-406F-9ACB-9279FB1D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32F9043-7D8B-4076-A071-CFB6FBB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C01B3B0-62BA-496E-9C32-D8C370C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different refund account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7FCFAA82-0352-4856-8254-98C3056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An order is cancelled. The refund instructions change.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12777711-CA71-4367-971A-ADB3746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PAYMENT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0DEFAA3C-77E7-40A1-B0A6-35A0D21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furniture business receives INR 10.5 lakh for a bulk order.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5A8681E0-43BB-486E-B145-F8E9F05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CHANGE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35876E23-A0AF-4E00-A6B8-AEF0912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wants INR 9.9 lakh refunded to an unrelated individual instead of the original payer.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ECF5C9EC-BE5B-40C4-BB74-73EF846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UNRESOLVED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7432D743-3034-49BA-B0E4-1FCB588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After an enquiry, the customer declines to explain the link or supply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00806785-861E-4F96-938D-82031D6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8C8F96F8-5F5E-40F9-AA64-33A462B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9CEB9545-87ED-46E9-8D79-4FC8090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“That’s the buyer’s agent. Just send the refund there. We’ve told you enough.”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9E926904-DF98-4A62-BF5A-730E4D2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0F07680-5C02-419C-8D3B-22582D8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ADFF309-6A8A-446F-BD56-7D6680E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1C110A2-2157-4EB6-AFFC-51EBD183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4D08BCE5-88BB-4D30-BD4A-57E85A5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reward: 200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7462ACE-2723-453F-9403-E09EF0A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783399734"/>
      </p:ext>
    </p:extLst>
  </p:cSld>
  <p:transition advClick="0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5C08717B-3BCF-4028-9E4B-7C0508A1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9A6DB209-72D8-4018-AACB-C41FC71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E16DA7F-6A94-435A-83C9-D36ECE0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6E4EFFD0-4729-449C-956C-9F0EFD1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A4A9BABE-C4AA-496A-BBEF-2392423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81EA8C58-8022-46BE-A816-45EBF18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ABD30E7-8F88-4D8D-A469-9FA2085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1F2BC571-7B03-44F8-BF35-107948D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RUN COMPLETE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7D75DED6-3A62-4F40-96E0-C748B518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44E09043-FBEC-43B2-BB26-BF70605C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141C85BC-B5FB-48AD-BC9F-42606EA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Run complete. Compare your decisions with the case review.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9E4C473-59CE-4A77-B549-30944264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CCB84A1-3E61-4EE2-ADBB-8D4503D1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94385962"/>
      </p:ext>
    </p:extLst>
  </p:cSld>
  <p:transition advClick="0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B7D495EF-8F37-4CBC-85C3-028188D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E344293A-7A4C-4C9E-8A2F-7DE9CB8F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3BCBC876-6740-4344-BF74-610DFD4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4E7F2C3B-F93D-4AAF-BCAC-222951C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5B27DACB-88A8-4378-A597-FD3DC596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4C7AAEF0-07E2-4DB1-9AAA-68AFA7C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1CF962-BFC3-4F0B-A5C8-800B21C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6403D681-587A-4748-9520-30489C21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8839BF0-0F80-45BF-B36D-B16D8138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refund needs review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76475860-FB04-4FA8-AB9B-3CA88ABB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cancellation does not explain why an unrelated person should receive the refund. The unresolved mismatch needs internal review.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CD2DF359-23D8-4F3B-AFEA-424BD16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F3F13BE7-4129-47D0-BC36-E3152764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F669EE4-8AA8-44EA-9AE1-ABC68603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E0728A0-563D-42C5-8F6F-6D65EA3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F4FF2A2-2CFA-4D85-9F77-388E475E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422346458"/>
      </p:ext>
    </p:extLst>
  </p:cSld>
  <p:transition advClick="0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5F8559D0-168C-4272-B066-CF30002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D7F07518-A9F6-4ECF-9BEE-9269BCBC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5A2D89FD-751A-4BE9-9DDC-3FB864B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68237F97-9FBA-4771-A03B-3987E65F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DBA4B6E-E8E0-4E4D-B01C-CFEEE57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447610E1-C997-47D7-B4D6-50587CAB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28BFDF3-7351-4B6A-ADB6-877FB433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88A7516E-81C5-414B-A029-FD30790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61D08E7-AC86-413F-A4DF-CE152821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link is still missing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CB668671-54D1-4F2A-A3D6-DD3ED691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has already declined to support the explanation. Use the internal escalation route for the unresolved concern.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89454281-678C-42E2-98DF-D0AE7B6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C5952B9F-8F2A-4805-BEE6-F87B5D9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DBAB0B4-DC28-4BD5-83FA-8F6E1B6B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48AA17E-1561-4D55-B9CD-6EF496F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D00DD9A-E1B7-4C81-A2B8-957112FC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2021105641"/>
      </p:ext>
    </p:extLst>
  </p:cSld>
  <p:transition advClick="0"/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FEBB1F83-BAAD-42A8-A767-3FF3D262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910807F3-EA48-42E5-99C0-6BC0B23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1A78A31-6ED4-44B8-B278-22C8B098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25119DD3-A87D-4348-9EE9-2F752D1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400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6C679685-18B0-41D7-B937-D50B703B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ED0467F1-20DB-41D7-BE54-B4A040F7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B67DCBE-CCAD-40A3-B84F-1F045A6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7D4ADC4F-1FDC-494E-BE48-B28CC168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RUN COMPLETE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D5C7F869-0117-41F3-83B2-AA8AB7C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400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F5CCEB1D-C7D2-426C-85B5-F8E3EF0E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508D472E-DFA3-43D7-8BFD-C618823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strong run. One decision is worth revisiting.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581D3EB-A6E8-4CE3-BCE1-15E4DDA4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AECF0BC-DD82-4681-A76D-7FAC8179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00268745"/>
      </p:ext>
    </p:extLst>
  </p:cSld>
  <p:transition advClick="0"/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B2F70DE1-174B-4587-B4EA-3258B2EB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D8D8B869-CC0B-48DB-AEFE-0062324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684E493-0CB5-4F39-B665-3030CB3C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463379C6-AB0C-477C-8322-804A5C1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400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C95BDE54-3092-4611-945B-0E3B054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C0C3953E-C774-4FB2-BD9C-4E59D4C0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3DA2AE1-3EDA-4928-8324-68DF58B2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34F02AB7-8845-4522-BD6C-5690AE0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733E57A-C183-469C-B02E-9A75671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Boss cleared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7928576E-BE03-4E46-9140-83962A4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unexplained refund request internally and follow payment controls. Any external reporting decision follows the approved process.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DE8B2814-D02E-4FFE-93CC-2917150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A643C613-076C-47B3-9997-542B7A3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+200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A78E157-2357-444D-A9DB-ED264110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7707DD6-056B-484B-8520-75F15491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4D98E5A-E86C-4A56-AF27-3B65AF62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67531763"/>
      </p:ext>
    </p:extLst>
  </p:cSld>
  <p:transition advClick="0"/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9C47554E-DC8E-4017-A3BF-75B81F4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88FBB045-989E-4C47-A048-72126A16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A154F3C3-46DA-4121-82A4-682344D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4A0C0A22-DB2D-427D-A010-D31803B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588B832C-7C0A-4E90-B96E-5CF6A78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C97D8BE0-BD1A-4F0D-BE6F-908364F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79F1C6B-31DF-47AC-B7E6-4E37EAAD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89A56935-AC55-4D48-937A-18DA64A8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DB1A4AC-53FF-45DF-9031-1190B1C0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8C4DB77B-DCEB-43A6-9432-52750D27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facts through the internal AML route. Describe the unusual pattern and the unanswered questions without claiming proof of a crime.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790E5AA0-1D5C-4F21-A382-2CF373B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151F5CA4-D5F5-45A9-831C-CBF44F18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DED9B5A-A615-4BCC-94E7-BD6009D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F3B9738-0FE9-4801-BF3E-6372A15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3E09E0F-4085-4EFD-9103-7AA15899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617286594"/>
      </p:ext>
    </p:extLst>
  </p:cSld>
  <p:transition advClick="0"/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4881D0F4-0F22-41E9-8762-DC3D940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6E7349C3-4D3F-4E9D-8405-561F4E0F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F69C7DA-A265-4A54-B5CB-7065B458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6B6CD858-1BE8-434F-AEAB-5276618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7B607D7-A171-483F-BA29-CFA6C32F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07473598-C1B7-400A-A9B2-7724D01F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5A1EFA5-6245-4917-BD9F-E567D62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D10EA53E-384D-4293-ADA9-99FA244E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D40215D-69C2-4129-B811-84A7E840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15E9044D-C6E4-4DCE-A9EE-CF3C0FF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deposit fits the expected seasonal pattern and checked records. Document your rationale and continue routine monitoring.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0EAC4974-E664-47EB-87E2-1A07FCD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0B67C790-3F8F-4CFE-8877-55C53F4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4297D62-CEF1-4A60-A214-29018907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B1024C5D-5EC0-4583-A0CC-89C8C44A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A181FB2-5B64-4946-889C-A0AF9385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46972109"/>
      </p:ext>
    </p:extLst>
  </p:cSld>
  <p:transition advClick="0"/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C0AC0A3E-E7FD-447D-A34F-AF076513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E84CB9B6-A4E6-40F9-B24D-39C1030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5AF30A8D-EECA-4D27-B9CA-E8D8B39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7BCFB08B-F3C6-4F4E-AE5D-45BCF63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E3303005-A619-4F7E-903D-DD8AAD0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EE537648-A9B1-4EB7-BEDD-3E630F9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BAB16B5-9C5D-47C0-A92E-0188BED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7791C30-7938-4A28-99A5-D073CEEF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Just passing through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AE104B76-4949-4BBA-8A2C-4218B6E3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Money arrives, then almost all of it moves out.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58C8AABF-8267-45AB-B382-923FA707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ACCOUNT HISTORY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C18E3611-EDF0-46C9-975F-1035A01F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personal account with no activity for six months.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345B46ED-3F36-47BC-AB07-38CA6AD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LAST 48 HOURS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9DA8F7D4-0BD4-4557-8A8E-1363394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18 unrelated senders pay INR 6.2 lakh. About 95% moves to two recipients on the same day.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54C26C41-5563-47C4-941B-897AD2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ENQUIRY SO FAR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C30A623F-E931-44C1-AB87-0C01FC7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declines to explain the relationships or provide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17FC6B71-E3E5-4F15-B294-21FA5CD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5D7C4033-04C2-40C6-8DB8-C8954E6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523E4694-3E8A-44B5-B470-911A684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“I’m doing favours for people. I don’t want to get into the details.”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F462A1A4-EAAA-45EA-8EF9-28D7AB4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2FBFD01-3D96-4AE2-9161-BF6BEAEE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123CD13-E7A3-4C40-B76C-326C3C5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A386E9B-A70B-46F3-900A-267F2A8B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D462E6AA-A84B-42B2-BE29-F56EB82D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9B3D6CC-5860-4A7D-BABA-91F2FBD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612183437"/>
      </p:ext>
    </p:extLst>
  </p:cSld>
  <p:transition advClick="0"/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E38B44B8-DE66-473E-8199-B8DC616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D563284E-2772-4D58-8F1F-79C288B6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6A4864A-74B7-4C97-A376-D6BD47C0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53921B2E-EC4B-4235-B857-865000A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5552A627-CB7D-40F3-9D12-A134169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5FFDA3A6-BD4E-4624-999C-4E5CFEA5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C71E8A3-81C5-4A31-B0C7-6DAE315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48D3D397-8F58-4A19-BFCE-D513119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GAME OVER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7720BAB7-279C-4898-A0B3-86C8A9B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B35E9AEA-B503-442E-A85E-B7DCB8FA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C9C2BD2B-C8FB-417F-BD48-1E1A19D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Three lives used. A fresh run starts from zero.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A2D3083-0C6D-48D6-AB7C-F3D7ACA0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84CB5C4-39B7-4D39-B2C7-16FA073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381646057"/>
      </p:ext>
    </p:extLst>
  </p:cSld>
  <p:transition advClick="0"/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0A0C86E8-B086-4837-ACFA-5561097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F99D5096-609E-486F-8325-236D0A30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C9817B6-88ED-4536-A5A6-63E6E7B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96F22174-C360-471D-92F1-FE795050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75566832-6831-42E6-AFD8-92B594B7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3382B2EB-2BAA-425C-803A-8BEAA55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4D0A205-FDB5-47D5-ACE2-C4ABAAA3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FFBD8CE7-4CC3-46F1-877A-46142622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5B2DD17-9423-4A54-B0EF-6726347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concern remains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D5E59BAA-D0B9-401C-8E04-5319D63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activity differs sharply from the known profile, and the customer has not explained it. Closing the review is too early.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FA599FE5-F536-4302-BCD0-BEBEC5BD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74ED724D-7B11-43E6-8352-28E3E359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91F6C55-477A-4653-8ECD-74B6490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2638EC5-BB0C-43F9-B2AB-58B814CD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1E610D5-1E0D-4AF2-A63E-7B508D4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362107981"/>
      </p:ext>
    </p:extLst>
  </p:cSld>
  <p:transition advClick="0"/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997C9533-EFE4-4349-AFAA-28EB3ED9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48EEBC1B-37F4-4434-8FA2-7D1F992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6ECF8997-A735-4288-9186-8C6B4FA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38FA9AC0-F243-445D-AA54-E149328D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92D94582-C6D8-4D73-8CF0-F705480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FBE5E3AC-509C-4A2F-BB77-81DCD40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0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306B8D6-C4B3-4ED0-9B1E-1A3B63A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6D3F8DD1-EF23-45B9-906F-59A55A3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973BAF2-5B63-494F-9B10-F774337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enquiry has stalled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D253423C-B01A-4C4B-8C50-67DB577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You have already asked for context. The unexplained activity now warrants internal review rather than repeating the same request.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F7EEEA44-79DD-478E-9E7B-3CA0A7D6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CBBDE829-BF56-4B81-B0B8-D387939A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62CFF9D-47E3-41B6-BA88-27EAD955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A33848B-F078-4C58-9BD9-209BBD41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EF5F639-7997-4E6E-8A77-E06D67E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522420146"/>
      </p:ext>
    </p:extLst>
  </p:cSld>
  <p:transition advClick="0"/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0F6289F5-5B08-4AC1-A8A2-8FFB0D4D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6ACEEF38-5EB9-42BE-A600-72D63533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6B1884BE-30B5-48FB-B173-23CB489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80ACB449-99AA-4D64-BDC2-D587570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2B925A95-A417-4353-9379-F387BAF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91C488B1-1200-48EB-B15A-14EA2CB1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B629637-399B-4D8A-8377-E458354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75075917-4475-4611-A403-BD12A4E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FD00272-E239-4B80-B052-924821BA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918797F7-F562-418C-B3AE-8637AE60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facts through the internal AML route. Describe the unusual pattern and the unanswered questions without claiming proof of a crime.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2CB38B81-2A60-4E5D-BFBE-1E50D85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E49B2AFF-E640-4904-AAC6-3487385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5F43459-E422-4E0B-80AB-3273FFC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304A9BF-528F-465F-95FB-895DF412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17B3A01-125B-4489-98F3-859F769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251798657"/>
      </p:ext>
    </p:extLst>
  </p:cSld>
  <p:transition advClick="0"/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11049967-A960-49BC-8E38-339DF5C2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779A2293-D808-4C73-819C-E9D3D40B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7F5B4E97-9375-4DA6-A14A-EDD1682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0C3E52B3-4286-42AA-8FC9-C0D03171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B0308020-EA1A-4109-955D-819C005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695BDFF4-DC3B-4D7B-B58E-279F4340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0C007FF-030F-417D-ABC8-B4E8D77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154A6878-E7F1-4540-AB3D-D286661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75A73FC-243B-47CE-8EC0-FC67069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evidence is already there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7153533E-F236-4E11-8A0A-7A7A1EC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Further questions need a reason. The facts already support the deposit, and no other concern remains in this case.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557C6BC9-CC6B-4A88-94EB-D89B3AC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1891BC63-9FE7-45BE-91E5-A0EC030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C9C388F-C7DD-4199-B5E3-04065C0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8EF2C74-35AA-4AE5-BCC7-2FD786DC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B2C9EDE-634C-49A2-87F5-A9BD404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587934310"/>
      </p:ext>
    </p:extLst>
  </p:cSld>
  <p:transition advClick="0"/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0A926DAD-1A68-4B7F-AED5-AC13443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494DE8DC-94E9-453F-AF07-AB54208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EAA6A288-247A-487A-B394-9934CA03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22DBCDD0-0D18-40E2-B762-735BF5C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008A3F04-D730-4275-BF3F-E9223A1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9CEACAD6-9317-4213-A4E5-5087D844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1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170C364-0E7B-44DF-BBD3-D3332B81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4420AA71-9DB0-4BAD-BB24-FCCEDAC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E681A47-25F6-487C-961B-901D3DB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amount needs context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8A17A806-3FF3-47CB-AE9F-794B237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larger deposit alone does not make this case suspicious. The known business pattern and checked records explain it.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00C92958-134C-47A2-9FF6-690B852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08CE09F9-E990-4E8D-B062-26D947C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4CBCF20-4E33-45B0-96F9-324F61FD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B3CEA169-472B-41F2-9F2B-65764A1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230CE87-7873-4073-B11F-AD02E1F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220830530"/>
      </p:ext>
    </p:extLst>
  </p:cSld>
  <p:transition advClick="0"/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7FB103A6-D65A-4D9B-8364-4615092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DEF238E6-6852-4520-A4B4-1E1C4DFD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01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1E0E1C95-8E2F-41C9-A007-48C93A3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8777FB7F-AC03-445D-B536-8198A008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6BF8938E-76B7-43A2-BB82-2798EE20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4BDEC3DA-6005-4DD0-85B3-4DFA1A6A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ABC9FF-4AC1-42A1-828F-1468C5C8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8FAE2012-7D67-4C6D-97A7-FF855719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E386026-0932-4F48-9F30-CF92A20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story needs checking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06F89B67-E272-441F-B0A5-B28DA93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explanation could be legitimate, but you have not checked it yet. Closing the review now leaves a gap.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D5B9B8AE-59D0-46A8-93F1-CC6F0B2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6D461D03-45ED-4798-96C2-261BFE15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28F3480-ACDA-42E0-9588-3D15A226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413503C-7B95-4C10-B25B-88D0ED0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B8C9EC0-4658-49A6-A05A-42901CC0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622266390"/>
      </p:ext>
    </p:extLst>
  </p:cSld>
  <p:transition advClick="0"/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ADFBBDE7-FAF3-4736-ADEC-C6B6B031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FA9F5863-E986-48B8-B374-F6B454A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6400D90B-95EB-4858-BE50-2DD4C37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51AD14C5-2E2B-4269-BF38-C8C481A5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C0F2B0A4-ED09-4F87-8DF5-5AEFE56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4AB174E7-C6F1-48DD-818E-2F7EAB8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49315AD-6497-4B7A-B55F-EE9DA2E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E443E8B-2527-488E-914F-6D0FD913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Festival takings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3E623734-5E42-4EF7-9AB5-763906E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 cash deposit is higher than usual.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E867F692-A5B8-4C8E-94DE-3E2D4522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CUSTOMER PROFILE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204180E7-39B1-4D86-A3A9-F306AE4B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An established sweets shop with expected seasonal peaks.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2D69E11D-3F60-4FF7-9104-59ABFD71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TODAY’S DEPOSIT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A9F48456-EE9F-4C96-85F1-A309F63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INR 4.8 lakh after a busy festival weekend.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3A5CB9C6-A3F7-4974-A5DC-68EF030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REVIEW COMPLETE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6D161EC3-238D-40DE-BF96-62B5736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Checked sales records support the deposit. It fits the expected activity. No other concerns arise.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BE7E147B-FFB1-46CF-9C48-4F2ADEB8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F6CAD985-4AE8-4C18-8C84-AFDA26F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7A56A71D-4FA0-44D2-87F3-30B983D5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“The weekend was packed. The sales records are in the file.”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0B2B32DA-F1D2-4101-A150-85EF64A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2B64787-39DE-4F59-B105-200A2538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86B5E6B-F824-4546-B9F3-3E997BEC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CA05588B-FF4A-4D3B-A82A-91D93EA0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98AF8590-05CC-42B2-9B85-A138F23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3076099-3B04-427A-9E19-88B44CED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931690815"/>
      </p:ext>
    </p:extLst>
  </p:cSld>
  <p:transition advClick="0"/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3FC113DE-1D4C-4052-80E6-52B13E20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60EF4D70-E816-462B-A18C-CCB9C54D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1704FC84-CF5C-4715-8BE6-B878A27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0AADF0D3-211F-4977-8466-B2FD660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DB3E1AD3-AA50-4F53-AD58-62B83C8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9005DF0C-868B-48B9-8D3B-551CF1B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B59336-353A-4E6D-AEA5-66B01F4D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E3A16CA-35BC-4104-BB56-877677C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Just passing through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EBAA82EE-B90E-42BA-BA27-BBFC0A6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Money arrives, then almost all of it moves out.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A8B6BD14-5544-4B34-9737-B8550D1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ACCOUNT HISTORY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DA81948A-30EA-4371-AB6C-5308D1F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personal account with no activity for six months.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BE7BB923-D540-4775-9540-8E11B67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LAST 48 HOURS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465E699A-5F5C-432C-858F-E6727E4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18 unrelated senders pay INR 6.2 lakh. About 95% moves to two recipients on the same day.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EB34864B-A3E0-4094-B677-56610B92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ENQUIRY SO FAR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274959E6-7AA5-46DF-B132-B6A7B990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declines to explain the relationships or provide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F93431EC-D9BA-444B-8C95-3F5953E3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0AF2511C-B469-4D04-9F23-3D6CCC51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7F282903-0764-4F5C-BCFA-D58CFA9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“I’m doing favours for people. I don’t want to get into the details.”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DCB68778-A2CF-4DAF-8483-EF489EC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E4B1654-2172-4620-872D-7413ED6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3914738-773B-4CA2-ACE1-0C99494E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6AF9889-1B8D-4FD4-92D5-3FB0260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EED46645-1151-428F-B88B-C8FA9A0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Round reward: 100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2F93B60-513B-47F3-83C1-BD4C156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529615127"/>
      </p:ext>
    </p:extLst>
  </p:cSld>
  <p:transition advClick="0"/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C473B3F7-FCD9-4F8A-AF6C-87BBC1C3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6DC5787C-9A8C-4C2C-87C6-FF13FEF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26D5F86-7A9D-4D4E-90B7-6B0F8B7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1516C890-0273-42AA-A974-19C9EE84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29DD8EB4-5996-4051-9ED6-52A570AC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8426C1B3-1931-4FA7-90C1-EEE548F1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E8E69BB-1497-4ABD-B635-FB9E7EF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90DF833C-BDCE-4096-BF43-1EF9760C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E121423-2A51-4241-B3B2-9E8956D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concern remains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C3402CE9-21C4-4BC0-BB1C-81F6BC10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activity differs sharply from the known profile, and the customer has not explained it. Closing the review is too early.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92B1EF1A-1131-49F0-9401-2F589DC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F6A0E4A0-66CF-4F1F-BCF1-59476898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E359305-72BB-4E64-819C-504BFEF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2D4EC214-A81B-45DD-8D1F-3604307C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2A8F363-AA8A-48BE-89B0-3E1F4E7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2124492579"/>
      </p:ext>
    </p:extLst>
  </p:cSld>
  <p:transition advClick="0"/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2743B2FC-9ADE-47EF-9E27-D8FFAD11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7C0BF442-3D7B-4CDB-8653-D40DAF5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3F56C896-E4B2-41A3-88FB-E036908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90C84E17-DECB-4990-BF8B-DC366562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DA06228F-CFC2-4B2E-B926-FF943EF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3C7C0BE6-F074-4B71-AE94-CBC7240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8BD5EEE-0CE3-45BC-868F-9012857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BAF8FC9C-20B7-468C-8019-AED71DBB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56A80C1-11FF-46D5-91BC-89A29F2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enquiry has stalled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BEA18A6B-EAFE-4462-B364-920BF1C2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You have already asked for context. The unexplained activity now warrants internal review rather than repeating the same request.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CFEF2508-BFDF-4FBF-A5D4-AE0DA6BF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3BC00FEF-60D9-4982-80ED-7D78D76F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64C20CC-0646-43FF-AE04-98858A54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8D3AE87-8FC5-4B6E-8498-27C260B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619810C-D933-47B8-B500-C92E0401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963299488"/>
      </p:ext>
    </p:extLst>
  </p:cSld>
  <p:transition advClick="0"/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">
            <a:extLst xmlns:a="http://schemas.openxmlformats.org/drawingml/2006/main">
              <a:ext uri="{FF2B5EF4-FFF2-40B4-BE49-F238E27FC236}">
                <a16:creationId xmlns:a16="http://schemas.microsoft.com/office/drawing/2014/main" id="{DCD1EEAE-D26B-4CEC-9416-249D863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A88808BD-DADB-49D9-953D-1A1BD3B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73D0EA12-1F0F-410F-9378-C673AC2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5F666E52-2FBC-47A3-8659-441F94B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43D7827A-B3F0-4BB6-A38E-D4041C97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EE11A42D-18D6-4AE3-8A4B-C84BDAB1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3BB2AC5-4823-4625-A354-71A6999F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846CC95-5D0C-4A43-9A0A-23002C0F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different refund account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0E2C1F9E-7C9A-4B9D-B5A1-D6C8D3E2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An order is cancelled. The refund instructions change.</a:t>
            </a:r>
          </a:p>
        </p:txBody>
      </p:sp>
      <p:sp>
        <p:nvSpPr>
          <p:cNvPr id="10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EE1CD3ED-1E07-468F-AEB0-BF6A5DC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PAYMENT</a:t>
            </a:r>
          </a:p>
        </p:txBody>
      </p:sp>
      <p:sp>
        <p:nvSpPr>
          <p:cNvPr id="11" name="fact-0">
            <a:extLst xmlns:a="http://schemas.openxmlformats.org/drawingml/2006/main">
              <a:ext uri="{FF2B5EF4-FFF2-40B4-BE49-F238E27FC236}">
                <a16:creationId xmlns:a16="http://schemas.microsoft.com/office/drawing/2014/main" id="{EFC9D1A0-5DA1-4945-894B-9D8AE61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furniture business receives INR 10.5 lakh for a bulk order.</a:t>
            </a:r>
          </a:p>
        </p:txBody>
      </p:sp>
      <p:sp>
        <p:nvSpPr>
          <p:cNvPr id="12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07FB4170-B389-4A4C-A3BD-8684D1D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THE CHANGE</a:t>
            </a:r>
          </a:p>
        </p:txBody>
      </p:sp>
      <p:sp>
        <p:nvSpPr>
          <p:cNvPr id="13" name="fact-1">
            <a:extLst xmlns:a="http://schemas.openxmlformats.org/drawingml/2006/main">
              <a:ext uri="{FF2B5EF4-FFF2-40B4-BE49-F238E27FC236}">
                <a16:creationId xmlns:a16="http://schemas.microsoft.com/office/drawing/2014/main" id="{8A7ABFE7-2F14-4882-B33B-DD0A19C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wants INR 9.9 lakh refunded to an unrelated individual instead of the original payer.</a:t>
            </a:r>
          </a:p>
        </p:txBody>
      </p:sp>
      <p:sp>
        <p:nvSpPr>
          <p:cNvPr id="14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43F4927C-579F-42A2-9DAC-3E4541D9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7019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UNRESOLVED</a:t>
            </a:r>
          </a:p>
        </p:txBody>
      </p:sp>
      <p:sp>
        <p:nvSpPr>
          <p:cNvPr id="15" name="fact-2">
            <a:extLst xmlns:a="http://schemas.openxmlformats.org/drawingml/2006/main">
              <a:ext uri="{FF2B5EF4-FFF2-40B4-BE49-F238E27FC236}">
                <a16:creationId xmlns:a16="http://schemas.microsoft.com/office/drawing/2014/main" id="{D22EC8EE-84B3-4C59-A536-A88826F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7019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After an enquiry, the customer declines to explain the link or supply supporting records.</a:t>
            </a:r>
          </a:p>
        </p:txBody>
      </p:sp>
      <p:sp>
        <p:nvSpPr>
          <p:cNvPr id="16" name="quote-panel">
            <a:extLst xmlns:a="http://schemas.openxmlformats.org/drawingml/2006/main">
              <a:ext uri="{FF2B5EF4-FFF2-40B4-BE49-F238E27FC236}">
                <a16:creationId xmlns:a16="http://schemas.microsoft.com/office/drawing/2014/main" id="{3085A5E5-7CC2-4922-A66D-6DF7192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7338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9525">
            <a:solidFill>
              <a:srgbClr val="344760"/>
            </a:solidFill>
            <a:prstDash val="solid"/>
          </a:ln>
        </p:spPr>
      </p:sp>
      <p:sp>
        <p:nvSpPr>
          <p:cNvPr id="17" name="quote-label">
            <a:extLst xmlns:a="http://schemas.openxmlformats.org/drawingml/2006/main">
              <a:ext uri="{FF2B5EF4-FFF2-40B4-BE49-F238E27FC236}">
                <a16:creationId xmlns:a16="http://schemas.microsoft.com/office/drawing/2014/main" id="{DEA51178-F36B-40BB-82AF-573F7F3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765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CUSTOMER SAYS</a:t>
            </a:r>
          </a:p>
        </p:txBody>
      </p:sp>
      <p:sp>
        <p:nvSpPr>
          <p:cNvPr id="18" name="quote">
            <a:extLst xmlns:a="http://schemas.openxmlformats.org/drawingml/2006/main">
              <a:ext uri="{FF2B5EF4-FFF2-40B4-BE49-F238E27FC236}">
                <a16:creationId xmlns:a16="http://schemas.microsoft.com/office/drawing/2014/main" id="{BF181E9E-C89D-4093-AA61-149B403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24200"/>
            <a:ext cx="31908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“That’s the buyer’s agent. Just send the refund there. We’ve told you enough.”</a:t>
            </a:r>
          </a:p>
        </p:txBody>
      </p:sp>
      <p:sp>
        <p:nvSpPr>
          <p:cNvPr id="19" name="prompt">
            <a:extLst xmlns:a="http://schemas.openxmlformats.org/drawingml/2006/main">
              <a:ext uri="{FF2B5EF4-FFF2-40B4-BE49-F238E27FC236}">
                <a16:creationId xmlns:a16="http://schemas.microsoft.com/office/drawing/2014/main" id="{6946B508-FEA5-470F-BE59-C1817E88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Your next move?</a:t>
            </a:r>
          </a:p>
        </p:txBody>
      </p:sp>
      <p:sp>
        <p:nvSpPr>
          <p:cNvPr id="20" name="answer-0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53594F3-CC0C-4DC0-9A67-C2E5474B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PROCEED</a:t>
            </a:r>
          </a:p>
        </p:txBody>
      </p:sp>
      <p:sp>
        <p:nvSpPr>
          <p:cNvPr id="21" name="answer-1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1E39D24-4330-4385-A39E-8B7AB17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MORE</a:t>
            </a:r>
          </a:p>
        </p:txBody>
      </p:sp>
      <p:sp>
        <p:nvSpPr>
          <p:cNvPr id="22" name="answer-2">
            <ns0:hlinkClick xmlns:ns0="http://schemas.openxmlformats.org/drawingml/2006/main" xmlns:ns1="http://schemas.openxmlformats.org/officeDocument/2006/relationships" ns1:id="rIdGame3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5595410-2D4D-427C-A998-65152EE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7A82F046-013C-48B6-B787-72D0D55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reward: 200 points</a:t>
            </a:r>
          </a:p>
        </p:txBody>
      </p:sp>
      <p:sp>
        <p:nvSpPr>
          <p:cNvPr id="24" name="restart-small">
            <ns0:hlinkClick xmlns:ns0="http://schemas.openxmlformats.org/drawingml/2006/main" xmlns:ns1="http://schemas.openxmlformats.org/officeDocument/2006/relationships" ns1:id="rIdGame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13DC4B9-5B71-4F39-A13E-8403486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173706652"/>
      </p:ext>
    </p:extLst>
  </p:cSld>
  <p:transition advClick="0"/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DBDEABFD-245C-42BD-8AF2-231FB645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4F6D6A33-369E-4EBA-95A9-B49D981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391B2AD-168F-40A4-A417-550D64F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9AEC0018-B0D7-45EB-9D92-79C5EBA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8015AC2-C11E-42DE-8C48-A40A29D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83F30547-21CC-4157-86CC-DC0B16C7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F7CB585-9677-4483-83AA-549E045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C3C8D1FB-A9FA-40B0-BA77-2C60CD8A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RUN COMPLETE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6B2CB1F5-03DF-46EF-8FFC-5B7CE284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CEBE9506-6204-48DF-B33C-44080A7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CA92BD71-345F-4C78-8417-7375CEF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Run complete. Compare your decisions with the case review.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9F517FF-537C-4267-AF8A-7F8C8923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D786D3D-AF4C-499A-93C2-B5FBCD92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041502493"/>
      </p:ext>
    </p:extLst>
  </p:cSld>
  <p:transition advClick="0"/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4FA0D95F-49A3-4B8C-965E-4FBA661F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AC21FB54-6206-4D22-9C95-C69D3DD6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3125E291-99EE-4B0F-9FCF-BAA14140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CC3DDB5F-C3D7-4675-B46E-6197CC5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965C7CEC-2939-44B9-A3B3-25BB2D4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A2CD40DA-60C8-466C-B8B8-E425A048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D37DF0D-EE1B-403A-AAFC-AD05B60D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4187F6B3-FDAC-44CA-B984-A92B9D3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4C5A35A-807D-4B8C-892E-DEEE863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refund needs review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CE8CB5F4-647D-4006-91DA-A3FA567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cancellation does not explain why an unrelated person should receive the refund. The unresolved mismatch needs internal review.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7A10B862-85C6-4726-A678-7AD7DCD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584031E2-C4A4-4DDF-A767-F8F5C35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36C2517-9564-4D5A-BFF3-2EFBA92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13CBE66-BAD2-4626-BEE1-9F3AC7DB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E0293E50-5F18-40CC-BC6B-03B2B49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353573717"/>
      </p:ext>
    </p:extLst>
  </p:cSld>
  <p:transition advClick="0"/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E8CF0696-CC8F-4B8B-8999-104E293C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B4B65E11-AEF7-42FC-836C-10415A72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2667F9B8-194B-4A3A-9C52-DE31AB8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4925E213-5537-43C8-8FEB-EE48D1F1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20C8841-DA1D-42A5-AA29-FE809FA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B0E6178F-9586-420B-B09C-FDB635C1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2465DC-8008-4B77-867A-63B1856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F5C7B484-0ECF-4CE9-A568-514E0A6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CDFF99C-0E6D-48A7-B5AA-F1E2DA6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link is still missing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5409C4DD-1C6D-4537-BB8A-EED4B95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customer has already declined to support the explanation. Use the internal escalation route for the unresolved concern.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8F48ADB2-F47A-47AE-919E-262C54D2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B175B1BF-CAF5-4CAD-BB00-9F08BC05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AB6BA51-19A3-44CC-9810-696FB69B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4B06AC2-AD40-4F34-8992-06A8A2E5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7FEFE56-4ABA-45FF-921D-C5BBC82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2038918445"/>
      </p:ext>
    </p:extLst>
  </p:cSld>
  <p:transition advClick="0"/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0B6F9D3D-464D-40A0-AA61-7B881B3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4062BD7D-0106-4B4C-8CB2-3C986E55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RESULT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E929CBC-6CCE-4EC5-B173-C73D815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85472D5E-843B-4677-B998-D9B76CE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500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03F30CDB-B791-4EAE-A5B3-F2D786A8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3DB72FBE-5C9F-463B-B2FF-3EEA537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C10424B-48B6-4FC1-8DCC-5EEC8E7F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3BBFEC78-ED53-437C-876A-0E398944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RUN COMPLETE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C51EB9D7-5793-40E6-88D8-61EC5C5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02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500</a:t>
            </a:r>
          </a:p>
        </p:txBody>
      </p:sp>
      <p:sp>
        <p:nvSpPr>
          <p:cNvPr id="10" name="max-score">
            <a:extLst xmlns:a="http://schemas.openxmlformats.org/drawingml/2006/main">
              <a:ext uri="{FF2B5EF4-FFF2-40B4-BE49-F238E27FC236}">
                <a16:creationId xmlns:a16="http://schemas.microsoft.com/office/drawing/2014/main" id="{1857642A-1FC0-46B9-ACD6-E986EEC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/ 500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B1FC6A9D-0C05-4467-B085-23AB7DB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Clean sweep. Every next step fits the facts.</a:t>
            </a:r>
          </a:p>
        </p:txBody>
      </p:sp>
      <p:sp>
        <p:nvSpPr>
          <p:cNvPr id="12" name="again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1C84661-6753-43EA-8A5F-F3D4265C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13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1BF8394-05FA-49BD-8BC6-B5FB267A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2043059616"/>
      </p:ext>
    </p:extLst>
  </p:cSld>
  <p:transition advClick="0"/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BF78D498-00DD-49D0-976E-0E725A9B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A3398092-D0FB-492E-B844-7D8172B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BOSS BATTLE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A10445C6-DD81-4FC4-9F62-52E1BFB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C2C080B5-1E20-47A3-955E-DBB23C34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500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3AD6C1BE-CA9B-44C5-86DA-00C893E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2CCCDD0F-1E67-4F75-8746-782ED8C4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C5B066B-B725-4020-BEA5-AC5DC88C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DBBA8BD6-E460-494D-9ED7-A1E4A972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103D2C2-A0D3-4F96-A9BD-120F39BD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Boss cleared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8A76086C-5B6D-482C-8297-534D4E5A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unexplained refund request internally and follow payment controls. Any external reporting decision follows the approved process.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92719D9F-AC58-41F2-8108-8ABD45A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62ADA5C4-9991-4501-BEA8-FDD579C5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+200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14F19A4-9835-4F5D-A8F4-9B26503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SEE RESULT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5EE5F24-B13E-4BE1-ABA6-1F2DE3F1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22337CF-2FCF-4D41-96B2-BFCC1E74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413425713"/>
      </p:ext>
    </p:extLst>
  </p:cSld>
  <p:transition advClick="0"/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183346CC-FBD5-47E7-888C-7884D56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5234FB13-422E-4A44-BA47-287DD27A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03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DAC158CF-CC2B-447C-8A60-BDCB0EA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273704E7-F0D2-4091-8977-D20AFCE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300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FBA8AA4A-3F94-4651-B4AE-998B44DA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74046061-4F16-4360-A8E2-AE33FD6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5DF718-B9AB-4B77-918E-E5AADC7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7D18BD24-3842-4B58-8B66-29817AE7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488AD50-0461-45D1-AD27-2797C6EF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32EF549B-BA26-4BC4-A1B8-FEB6C13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Escalate the facts through the internal AML route. Describe the unusual pattern and the unanswered questions without claiming proof of a crime.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6E76C310-E6FE-4D44-94D2-374516D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B289B7C0-241F-4C1B-B727-37A8CD0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B928F222-5C46-4848-8847-F27F7357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FACE THE BOSS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2E2D5EE-FDE9-4DF0-B76F-507CD93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0C63B0E3-BE69-42DB-8451-7B6185A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933515043"/>
      </p:ext>
    </p:extLst>
  </p:cSld>
  <p:transition advClick="0"/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8BB20F96-E32D-4B54-A9CA-C8106EC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B2DE2657-B1D2-481F-82FD-79D3E79D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43D0025-E633-4B87-ACE6-C103DCD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6D2699B4-4F3F-4384-B802-510EBB31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200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448F7079-2F6F-4A4D-915B-4782901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88E1692B-D31B-423A-8A42-2E063CFD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D138079-0CEB-4B7A-A9BE-084B739F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4B424EA7-03C6-40CB-A773-CBF6B71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D130D2D-EF48-47C1-8E0B-F43670E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0925FF88-DAE9-4D62-A320-ABACFBC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deposit fits the expected seasonal pattern and checked records. Document your rationale and continue routine monitoring.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7CD5DFA0-55E1-49CD-9ABA-74789AE6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PROCEED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308BC044-0AF9-4DA3-8DE7-3E3227F1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3EFF3420-90EE-4851-9B42-6669344F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EE84B77A-AED9-4775-8CEA-DCB0BD3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C6F4DCB-D50F-40B2-AA49-7A8B65E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501141605"/>
      </p:ext>
    </p:extLst>
  </p:cSld>
  <p:transition advClick="0"/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1070924C-BF0A-48A3-BB1F-E389272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BC9279DE-28B6-4CB2-A6B1-B6E9CB0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F7B737F5-C57F-4368-B9C9-287C162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18A0E65C-A2F2-4640-AB8B-B8A564AB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014FC9F9-A1A6-460C-A232-15AA8BF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66F316D5-E250-4EEA-847F-EF5311C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9893F7-205B-483F-8D7E-136A2B6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1E3D7E7E-F5CA-41A0-A4D7-F2FC260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D3959E5-5C89-4C32-B563-C657DBD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evidence is already there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24F6DFC8-1F6B-4CF8-989C-3078E292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Further questions need a reason. The facts already support the deposit, and no other concern remains in this case.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BA02533B-FEE6-45E5-BE4E-517988E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7CC86D95-FFE3-42E0-BEA5-ADAAF7B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6AE7EE91-6715-423F-B159-CC550EA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912BB19-E437-436D-8948-A4FCBF8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8011074-06BC-455A-A0DA-67E4A29E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784257151"/>
      </p:ext>
    </p:extLst>
  </p:cSld>
  <p:transition advClick="0"/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BB2C36D7-84F5-4E5F-BCA1-AA15908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2C1FA8D9-7075-4442-B6DB-AB8400AA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02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A1E86EC-36C9-413C-89B7-7A07D96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9EFF603A-76FD-4314-9E6A-D2D78C59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695C06E2-7894-4904-BC72-3C3546C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FED2C60A-AD90-41CF-B972-7127215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CCBF567-5918-4A9F-AE4F-DBBE79F3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42F8AA53-C989-4D80-8B14-7AEB438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754875B-91F2-4967-AEFB-C0C96D31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amount needs context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59BD2742-F606-4DF8-954D-186117B5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 larger deposit alone does not make this case suspicious. The known business pattern and checked records explain it.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7F7AFCB8-E9B5-45ED-AC22-6D12353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D71F7E00-D251-4B1D-AF03-3A462450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2D20F53-1B3A-4149-99AD-1003F1E4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E789E21-B590-4D0D-AB07-255CADD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94EC566-14ED-4869-AE8C-593BF98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786448817"/>
      </p:ext>
    </p:extLst>
  </p:cSld>
  <p:transition advClick="0"/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738190DE-BF5B-4BBA-84D3-0E4092D0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35185447-44F9-45A2-8296-1883A817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01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18C9EAAE-B25E-4088-B9B3-485436F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52D62FE8-8C2A-430B-9458-3E5F64A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FECF8235-46A0-4218-B89C-8AF28039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4DF3251F-F484-4B06-9733-6FBD4489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3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02B8190-0AD2-438F-8E02-F3EA729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530EBCEF-E2BE-4F47-A3D7-35D2812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9BE1AE"/>
                </a:solidFill>
                <a:latin typeface="Courier New"/>
                <a:ea typeface="Courier New"/>
                <a:cs typeface="Courier New"/>
              </a:rPr>
              <a:t>GOOD DECISION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13D5530-5562-4260-9FCD-5D1B064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Good call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876F3596-590C-4626-ABC0-5B5AF87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Review the client payments against invoices or other suitable records. Update the customer profile if the change checks out.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C8EFB658-AFF4-4BDD-A8B5-FB428BF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ASK MORE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49D6A1FC-409D-4F61-BAE1-2BA3718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+100 POINTS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49BACDB-59A5-4EF8-A2BB-0E2412CF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415BDDD-4625-4AD7-BD69-6A3511C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738EA39D-4F22-4E21-BC82-B1ED49C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413892656"/>
      </p:ext>
    </p:extLst>
  </p:cSld>
  <p:transition advClick="0"/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95ADEA3E-E251-47A9-A03E-EC7A071D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1C9E52BF-FDCD-4D39-B483-25A9B75E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01</a:t>
            </a:r>
          </a:p>
        </p:txBody>
      </p:sp>
      <p:sp>
        <p:nvSpPr>
          <p:cNvPr id="3" name="score-label">
            <a:extLst xmlns:a="http://schemas.openxmlformats.org/drawingml/2006/main">
              <a:ext uri="{FF2B5EF4-FFF2-40B4-BE49-F238E27FC236}">
                <a16:creationId xmlns:a16="http://schemas.microsoft.com/office/drawing/2014/main" id="{09334BE9-F6C0-40DD-BA1E-6D06D765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4" name="score">
            <a:extLst xmlns:a="http://schemas.openxmlformats.org/drawingml/2006/main">
              <a:ext uri="{FF2B5EF4-FFF2-40B4-BE49-F238E27FC236}">
                <a16:creationId xmlns:a16="http://schemas.microsoft.com/office/drawing/2014/main" id="{722F69FD-72BD-465B-8086-767114B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000</a:t>
            </a:r>
          </a:p>
        </p:txBody>
      </p:sp>
      <p:sp>
        <p:nvSpPr>
          <p:cNvPr id="5" name="lives-label">
            <a:extLst xmlns:a="http://schemas.openxmlformats.org/drawingml/2006/main">
              <a:ext uri="{FF2B5EF4-FFF2-40B4-BE49-F238E27FC236}">
                <a16:creationId xmlns:a16="http://schemas.microsoft.com/office/drawing/2014/main" id="{059F588E-4027-44D6-956D-C3044282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LIVES</a:t>
            </a:r>
          </a:p>
        </p:txBody>
      </p:sp>
      <p:sp>
        <p:nvSpPr>
          <p:cNvPr id="6" name="lives">
            <a:extLst xmlns:a="http://schemas.openxmlformats.org/drawingml/2006/main">
              <a:ext uri="{FF2B5EF4-FFF2-40B4-BE49-F238E27FC236}">
                <a16:creationId xmlns:a16="http://schemas.microsoft.com/office/drawing/2014/main" id="{0D53312A-89A3-48A9-A73B-809C1835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2 / 3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B4C816A-C460-478B-8DA2-9A9C7DD0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ult">
            <a:extLst xmlns:a="http://schemas.openxmlformats.org/drawingml/2006/main">
              <a:ext uri="{FF2B5EF4-FFF2-40B4-BE49-F238E27FC236}">
                <a16:creationId xmlns:a16="http://schemas.microsoft.com/office/drawing/2014/main" id="{34D58584-8B2B-45EF-BEB7-61A0272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315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LIFE LOST</a:t>
            </a:r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F8ED325-CAC6-4E75-8521-603E75B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change needs context</a:t>
            </a:r>
          </a:p>
        </p:txBody>
      </p:sp>
      <p:sp>
        <p:nvSpPr>
          <p:cNvPr id="10" name="feedback">
            <a:extLst xmlns:a="http://schemas.openxmlformats.org/drawingml/2006/main">
              <a:ext uri="{FF2B5EF4-FFF2-40B4-BE49-F238E27FC236}">
                <a16:creationId xmlns:a16="http://schemas.microsoft.com/office/drawing/2014/main" id="{DD8DA8BE-FBA0-4949-8AAE-202877E9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new pattern calls for a review. On these facts, a focused enquiry is the best next step before an internal escalation.</a:t>
            </a:r>
          </a:p>
        </p:txBody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F3086E63-4F93-4AEC-A087-177A46B1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YOU CHOSE: ESCALATE</a:t>
            </a:r>
          </a:p>
        </p:txBody>
      </p:sp>
      <p:sp>
        <p:nvSpPr>
          <p:cNvPr id="12" name="delta">
            <a:extLst xmlns:a="http://schemas.openxmlformats.org/drawingml/2006/main">
              <a:ext uri="{FF2B5EF4-FFF2-40B4-BE49-F238E27FC236}">
                <a16:creationId xmlns:a16="http://schemas.microsoft.com/office/drawing/2014/main" id="{6C4DCE24-05C6-41F5-B86B-74C9B195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>
                <a:solidFill>
                  <a:srgbClr val="FF747B"/>
                </a:solidFill>
                <a:latin typeface="Courier New"/>
                <a:ea typeface="Courier New"/>
                <a:cs typeface="Courier New"/>
              </a:rPr>
              <a:t>1 LIFE USED</a:t>
            </a:r>
          </a:p>
        </p:txBody>
      </p:sp>
      <p:sp>
        <p:nvSpPr>
          <p:cNvPr id="13" name="continue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F3C1955-48FE-45F2-BB99-FF642F16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NEXT CASE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32CFC3EA-79B9-4651-9032-0596988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90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A red flag calls for a reasoned next step.</a:t>
            </a:r>
          </a:p>
        </p:txBody>
      </p:sp>
      <p:sp>
        <p:nvSpPr>
          <p:cNvPr id="15" name="restart-small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9E9387B-C632-4C48-9D6D-36BEFB34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276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1461058122"/>
      </p:ext>
    </p:extLst>
  </p:cSld>
  <p:transition advClick="0"/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">
            <a:extLst xmlns:a="http://schemas.openxmlformats.org/drawingml/2006/main">
              <a:ext uri="{FF2B5EF4-FFF2-40B4-BE49-F238E27FC236}">
                <a16:creationId xmlns:a16="http://schemas.microsoft.com/office/drawing/2014/main" id="{73799EC6-F1C1-4102-B0D6-E4E1B9D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BEB4C11E-DFDD-45D3-908C-F2E4A542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CASE REVIEW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027FC0-7091-4C65-9579-0A092196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A1976D-0601-49C9-B697-A8886C9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decisions behind the score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B9759AEB-B0E4-44BF-BB71-A1F53E6F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case-0">
            <a:extLst xmlns:a="http://schemas.openxmlformats.org/drawingml/2006/main">
              <a:ext uri="{FF2B5EF4-FFF2-40B4-BE49-F238E27FC236}">
                <a16:creationId xmlns:a16="http://schemas.microsoft.com/office/drawing/2014/main" id="{FA2C48F4-AF39-4109-8342-32E5EE8D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The side hustle</a:t>
            </a:r>
          </a:p>
        </p:txBody>
      </p:sp>
      <p:sp>
        <p:nvSpPr>
          <p:cNvPr id="7" name="ans-0">
            <a:extLst xmlns:a="http://schemas.openxmlformats.org/drawingml/2006/main">
              <a:ext uri="{FF2B5EF4-FFF2-40B4-BE49-F238E27FC236}">
                <a16:creationId xmlns:a16="http://schemas.microsoft.com/office/drawing/2014/main" id="{82437738-89CF-4040-AE58-B3AC47F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ASK MORE</a:t>
            </a:r>
          </a:p>
        </p:txBody>
      </p:sp>
      <p:sp>
        <p:nvSpPr>
          <p:cNvPr id="8" name="why-0">
            <a:extLst xmlns:a="http://schemas.openxmlformats.org/drawingml/2006/main">
              <a:ext uri="{FF2B5EF4-FFF2-40B4-BE49-F238E27FC236}">
                <a16:creationId xmlns:a16="http://schemas.microsoft.com/office/drawing/2014/main" id="{CF876D83-BE3A-4721-BA59-88981D9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241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Check the new activity against supporting records.</a:t>
            </a:r>
          </a:p>
        </p:txBody>
      </p:sp>
      <p:sp>
        <p:nvSpPr>
          <p:cNvPr id="9" name="num-1">
            <a:extLst xmlns:a="http://schemas.openxmlformats.org/drawingml/2006/main">
              <a:ext uri="{FF2B5EF4-FFF2-40B4-BE49-F238E27FC236}">
                <a16:creationId xmlns:a16="http://schemas.microsoft.com/office/drawing/2014/main" id="{4A80C871-42F8-466C-9B27-19020963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0" name="case-1">
            <a:extLst xmlns:a="http://schemas.openxmlformats.org/drawingml/2006/main">
              <a:ext uri="{FF2B5EF4-FFF2-40B4-BE49-F238E27FC236}">
                <a16:creationId xmlns:a16="http://schemas.microsoft.com/office/drawing/2014/main" id="{02FCF78E-2555-4D5D-829D-D928849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037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Festival takings</a:t>
            </a:r>
          </a:p>
        </p:txBody>
      </p:sp>
      <p:sp>
        <p:nvSpPr>
          <p:cNvPr id="11" name="ans-1">
            <a:extLst xmlns:a="http://schemas.openxmlformats.org/drawingml/2006/main">
              <a:ext uri="{FF2B5EF4-FFF2-40B4-BE49-F238E27FC236}">
                <a16:creationId xmlns:a16="http://schemas.microsoft.com/office/drawing/2014/main" id="{EF1DE57B-F1D6-48D9-908A-4098A21F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PROCEED</a:t>
            </a:r>
          </a:p>
        </p:txBody>
      </p:sp>
      <p:sp>
        <p:nvSpPr>
          <p:cNvPr id="12" name="why-1">
            <a:extLst xmlns:a="http://schemas.openxmlformats.org/drawingml/2006/main">
              <a:ext uri="{FF2B5EF4-FFF2-40B4-BE49-F238E27FC236}">
                <a16:creationId xmlns:a16="http://schemas.microsoft.com/office/drawing/2014/main" id="{1E2FEE82-9BB0-4AB0-92FF-6DD6820D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The checked evidence supports the seasonal deposit.</a:t>
            </a:r>
          </a:p>
        </p:txBody>
      </p:sp>
      <p:sp>
        <p:nvSpPr>
          <p:cNvPr id="13" name="num-2">
            <a:extLst xmlns:a="http://schemas.openxmlformats.org/drawingml/2006/main">
              <a:ext uri="{FF2B5EF4-FFF2-40B4-BE49-F238E27FC236}">
                <a16:creationId xmlns:a16="http://schemas.microsoft.com/office/drawing/2014/main" id="{D2F379B0-E667-4747-AC07-FD865D76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4" name="case-2">
            <a:extLst xmlns:a="http://schemas.openxmlformats.org/drawingml/2006/main">
              <a:ext uri="{FF2B5EF4-FFF2-40B4-BE49-F238E27FC236}">
                <a16:creationId xmlns:a16="http://schemas.microsoft.com/office/drawing/2014/main" id="{DBB60F5B-EFC7-4D8D-8A05-F2728C06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Just passing through</a:t>
            </a:r>
          </a:p>
        </p:txBody>
      </p:sp>
      <p:sp>
        <p:nvSpPr>
          <p:cNvPr id="15" name="ans-2">
            <a:extLst xmlns:a="http://schemas.openxmlformats.org/drawingml/2006/main">
              <a:ext uri="{FF2B5EF4-FFF2-40B4-BE49-F238E27FC236}">
                <a16:creationId xmlns:a16="http://schemas.microsoft.com/office/drawing/2014/main" id="{92D8EE8A-3D3C-4B15-8DCA-4B1E9DCF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ESCALATE</a:t>
            </a:r>
          </a:p>
        </p:txBody>
      </p:sp>
      <p:sp>
        <p:nvSpPr>
          <p:cNvPr id="16" name="why-2">
            <a:extLst xmlns:a="http://schemas.openxmlformats.org/drawingml/2006/main">
              <a:ext uri="{FF2B5EF4-FFF2-40B4-BE49-F238E27FC236}">
                <a16:creationId xmlns:a16="http://schemas.microsoft.com/office/drawing/2014/main" id="{DB36A570-3656-4AD6-A137-38EAA71F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The unusual flow remains unexplained after an enquiry.</a:t>
            </a:r>
          </a:p>
        </p:txBody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3EEBBBCD-5E49-4BD6-AD98-0551C585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case-3">
            <a:extLst xmlns:a="http://schemas.openxmlformats.org/drawingml/2006/main">
              <a:ext uri="{FF2B5EF4-FFF2-40B4-BE49-F238E27FC236}">
                <a16:creationId xmlns:a16="http://schemas.microsoft.com/office/drawing/2014/main" id="{E2E32AED-1D29-469C-BA9E-D7E1D963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339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different refund account</a:t>
            </a:r>
          </a:p>
        </p:txBody>
      </p:sp>
      <p:sp>
        <p:nvSpPr>
          <p:cNvPr id="19" name="ans-3">
            <a:extLst xmlns:a="http://schemas.openxmlformats.org/drawingml/2006/main">
              <a:ext uri="{FF2B5EF4-FFF2-40B4-BE49-F238E27FC236}">
                <a16:creationId xmlns:a16="http://schemas.microsoft.com/office/drawing/2014/main" id="{CF2888D6-6D8F-4C2B-8AD4-873AD176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r">
              <a:def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ESCALATE</a:t>
            </a:r>
          </a:p>
        </p:txBody>
      </p:sp>
      <p:sp>
        <p:nvSpPr>
          <p:cNvPr id="20" name="why-3">
            <a:extLst xmlns:a="http://schemas.openxmlformats.org/drawingml/2006/main">
              <a:ext uri="{FF2B5EF4-FFF2-40B4-BE49-F238E27FC236}">
                <a16:creationId xmlns:a16="http://schemas.microsoft.com/office/drawing/2014/main" id="{01470999-CDEC-43CD-B123-9C5FACD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The third-party refund link remains unsupported.</a:t>
            </a:r>
          </a:p>
        </p:txBody>
      </p:sp>
      <p:sp>
        <p:nvSpPr>
          <p:cNvPr id="21" name="replay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F5417B02-BED7-4868-B80A-AF8FEC38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sp>
        <p:nvSpPr>
          <p:cNvPr id="22" name="host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8D33298D-79EA-45B4-8A5F-C2F04E69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3086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HOST GUIDE</a:t>
            </a:r>
          </a:p>
        </p:txBody>
      </p:sp>
    </p:spTree>
    <p:extLst>
      <p:ext uri="{BB962C8B-B14F-4D97-AF65-F5344CB8AC3E}">
        <p14:creationId xmlns:p14="http://schemas.microsoft.com/office/powerpoint/2010/main" val="1783985995"/>
      </p:ext>
    </p:extLst>
  </p:cSld>
  <p:transition advClick="0"/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C5069E11-E464-4C64-98E7-6E354A7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FFBF47"/>
                </a:solidFill>
                <a:latin typeface="Courier New"/>
                <a:ea typeface="Courier New"/>
                <a:cs typeface="Courier New"/>
              </a:rPr>
              <a:t>AML ARCADE</a:t>
            </a:r>
          </a:p>
        </p:txBody>
      </p:sp>
      <p:sp>
        <p:nvSpPr>
          <p:cNvPr id="2" name="mode">
            <a:extLst xmlns:a="http://schemas.openxmlformats.org/drawingml/2006/main">
              <a:ext uri="{FF2B5EF4-FFF2-40B4-BE49-F238E27FC236}">
                <a16:creationId xmlns:a16="http://schemas.microsoft.com/office/drawing/2014/main" id="{C2507591-3DF2-418F-B1A5-AEB41679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ACB8CD"/>
                </a:solidFill>
                <a:latin typeface="Courier New"/>
                <a:ea typeface="Courier New"/>
                <a:cs typeface="Courier New"/>
              </a:rPr>
              <a:t>HOST GUIDE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FA06231-5A7D-4EE7-B2A2-DF02CB0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1C47FA-7A74-44C6-935C-9894094A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A five-minute session</a:t>
            </a:r>
          </a:p>
        </p:txBody>
      </p:sp>
      <p:sp>
        <p:nvSpPr>
          <p:cNvPr id="5" name="tiplabel-0">
            <a:extLst xmlns:a="http://schemas.openxmlformats.org/drawingml/2006/main">
              <a:ext uri="{FF2B5EF4-FFF2-40B4-BE49-F238E27FC236}">
                <a16:creationId xmlns:a16="http://schemas.microsoft.com/office/drawing/2014/main" id="{8856A491-D1D8-4EFE-81DB-A8D3C11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SETUP</a:t>
            </a:r>
          </a:p>
        </p:txBody>
      </p:sp>
      <p:sp>
        <p:nvSpPr>
          <p:cNvPr id="6" name="tip-0">
            <a:extLst xmlns:a="http://schemas.openxmlformats.org/drawingml/2006/main">
              <a:ext uri="{FF2B5EF4-FFF2-40B4-BE49-F238E27FC236}">
                <a16:creationId xmlns:a16="http://schemas.microsoft.com/office/drawing/2014/main" id="{22C0C821-A516-483F-94F9-F45BB4A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Use desktop PowerPoint in Slide Show mode. Click the on-screen buttons to play.</a:t>
            </a:r>
          </a:p>
        </p:txBody>
      </p:sp>
      <p:sp>
        <p:nvSpPr>
          <p:cNvPr id="7" name="tiplabel-1">
            <a:extLst xmlns:a="http://schemas.openxmlformats.org/drawingml/2006/main">
              <a:ext uri="{FF2B5EF4-FFF2-40B4-BE49-F238E27FC236}">
                <a16:creationId xmlns:a16="http://schemas.microsoft.com/office/drawing/2014/main" id="{F8C9D28E-5CB3-45C7-9BC7-156E65B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TEAM PLAY</a:t>
            </a:r>
          </a:p>
        </p:txBody>
      </p:sp>
      <p:sp>
        <p:nvSpPr>
          <p:cNvPr id="8" name="tip-1">
            <a:extLst xmlns:a="http://schemas.openxmlformats.org/drawingml/2006/main">
              <a:ext uri="{FF2B5EF4-FFF2-40B4-BE49-F238E27FC236}">
                <a16:creationId xmlns:a16="http://schemas.microsoft.com/office/drawing/2014/main" id="{A6945FB0-5FE5-46D1-B488-90E7E59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Read each case aloud. Let the room vote, then click the chosen next step.</a:t>
            </a:r>
          </a:p>
        </p:txBody>
      </p:sp>
      <p:sp>
        <p:nvSpPr>
          <p:cNvPr id="9" name="tiplabel-2">
            <a:extLst xmlns:a="http://schemas.openxmlformats.org/drawingml/2006/main">
              <a:ext uri="{FF2B5EF4-FFF2-40B4-BE49-F238E27FC236}">
                <a16:creationId xmlns:a16="http://schemas.microsoft.com/office/drawing/2014/main" id="{944B06FE-51D9-4818-B91F-05CD616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PACE</a:t>
            </a:r>
          </a:p>
        </p:txBody>
      </p:sp>
      <p:sp>
        <p:nvSpPr>
          <p:cNvPr id="10" name="tip-2">
            <a:extLst xmlns:a="http://schemas.openxmlformats.org/drawingml/2006/main">
              <a:ext uri="{FF2B5EF4-FFF2-40B4-BE49-F238E27FC236}">
                <a16:creationId xmlns:a16="http://schemas.microsoft.com/office/drawing/2014/main" id="{F754E5FA-7F9F-43F9-8B68-F87EC7EB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Allow about 30 seconds per case if you want a faster round. The host controls the pace.</a:t>
            </a:r>
          </a:p>
        </p:txBody>
      </p:sp>
      <p:sp>
        <p:nvSpPr>
          <p:cNvPr id="11" name="tiplabel-3">
            <a:extLst xmlns:a="http://schemas.openxmlformats.org/drawingml/2006/main">
              <a:ext uri="{FF2B5EF4-FFF2-40B4-BE49-F238E27FC236}">
                <a16:creationId xmlns:a16="http://schemas.microsoft.com/office/drawing/2014/main" id="{FDCC8C68-24A3-4041-8D4D-4320EB7C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63D7E4"/>
                </a:solidFill>
                <a:latin typeface="Courier New"/>
                <a:ea typeface="Courier New"/>
                <a:cs typeface="Courier New"/>
              </a:rPr>
              <a:t>DEBRIEF</a:t>
            </a:r>
          </a:p>
        </p:txBody>
      </p:sp>
      <p:sp>
        <p:nvSpPr>
          <p:cNvPr id="12" name="tip-3">
            <a:extLst xmlns:a="http://schemas.openxmlformats.org/drawingml/2006/main">
              <a:ext uri="{FF2B5EF4-FFF2-40B4-BE49-F238E27FC236}">
                <a16:creationId xmlns:a16="http://schemas.microsoft.com/office/drawing/2014/main" id="{DB889811-D44E-4786-8C45-4A2A496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24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Ask what fact changed the decision. Open CASE REVIEW after the run.</a:t>
            </a:r>
          </a:p>
        </p:txBody>
      </p:sp>
      <p:sp>
        <p:nvSpPr>
          <p:cNvPr id="13" name="disclosure">
            <a:extLst xmlns:a="http://schemas.openxmlformats.org/drawingml/2006/main">
              <a:ext uri="{FF2B5EF4-FFF2-40B4-BE49-F238E27FC236}">
                <a16:creationId xmlns:a16="http://schemas.microsoft.com/office/drawing/2014/main" id="{7AAFE272-CCAD-4777-A1D5-E8675A7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97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8C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B8CD"/>
                </a:solidFill>
                <a:latin typeface="Arial"/>
                <a:ea typeface="Arial"/>
                <a:cs typeface="Arial"/>
              </a:rPr>
              <a:t>Fictional demo. Align the cases and answer key with your organisation’s AML procedures before staff training.</a:t>
            </a:r>
          </a:p>
        </p:txBody>
      </p:sp>
      <p:sp>
        <p:nvSpPr>
          <p:cNvPr id="14" name="start">
            <ns0:hlinkClick xmlns:ns0="http://schemas.openxmlformats.org/drawingml/2006/main" xmlns:ns1="http://schemas.openxmlformats.org/officeDocument/2006/relationships" ns1:id="rIdGame1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26E41A51-3F8A-4015-8E12-00A688C3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47"/>
          </a:solidFill>
          <a:ln xmlns:a="http://schemas.openxmlformats.org/drawingml/2006/main" w="19050">
            <a:solidFill>
              <a:srgbClr val="FFBF47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424"/>
                </a:solidFill>
                <a:latin typeface="Arial"/>
                <a:ea typeface="Arial"/>
                <a:cs typeface="Arial"/>
              </a:rPr>
              <a:t>START GAME</a:t>
            </a:r>
          </a:p>
        </p:txBody>
      </p:sp>
      <p:sp>
        <p:nvSpPr>
          <p:cNvPr id="15" name="review">
            <ns0:hlinkClick xmlns:ns0="http://schemas.openxmlformats.org/drawingml/2006/main" xmlns:ns1="http://schemas.openxmlformats.org/officeDocument/2006/relationships" ns1:id="rIdGame2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DA056FF1-BE8A-4535-84D8-96A6D38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24575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37"/>
          </a:solidFill>
          <a:ln xmlns:a="http://schemas.openxmlformats.org/drawingml/2006/main" w="19050">
            <a:solidFill>
              <a:srgbClr val="63D7E4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783198125"/>
      </p:ext>
    </p:extLst>
  </p:cSld>
  <p:transition advClick="0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2026-10-13T12:40:36.9730000Z</dcterms:created>
  <dcterms:modified xsi:type="dcterms:W3CDTF">2026-10-13T12:40:36.9730000Z</dcterms:modified>
</coreProperties>
</file>